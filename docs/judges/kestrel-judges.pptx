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6b72c7c5-6be4-d732-fca6-a42895dd9438}">
          <p14:sldIdLst>
            <p14:sldId id="256"/>
          </p14:sldIdLst>
        </p14:section>
        <p14:section name="Problem" id="{66486131-6b6d-c548-0cfd-52a5898ae0d9}">
          <p14:sldIdLst>
            <p14:sldId id="257"/>
          </p14:sldIdLst>
        </p14:section>
        <p14:section name="Product" id="{9ad2968a-af6a-2714-df47-0ed2fde30367}">
          <p14:sldIdLst>
            <p14:sldId id="258"/>
          </p14:sldIdLst>
        </p14:section>
        <p14:section name="Objectives" id="{e100df7f-2530-73c4-96d1-7baeee76de8e}">
          <p14:sldIdLst>
            <p14:sldId id="259"/>
            <p14:sldId id="260"/>
            <p14:sldId id="261"/>
          </p14:sldIdLst>
        </p14:section>
        <p14:section name="How it works" id="{07f6eb37-6d30-cc7d-e43b-b6a515f1d857}">
          <p14:sldIdLst>
            <p14:sldId id="262"/>
            <p14:sldId id="263"/>
            <p14:sldId id="264"/>
          </p14:sldIdLst>
        </p14:section>
        <p14:section name="Status" id="{1490fc65-5b5b-eb2e-6386-3282c45df397}">
          <p14:sldIdLst>
            <p14:sldId id="265"/>
          </p14:sldIdLst>
        </p14:section>
        <p14:section name="Close" id="{b0fdb86e-3e05-f1e2-6b9b-0291aed6c5e8}">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companions. Kestrel is for ages 13 to 16: you direct two robot companions through real physics and maths experiments. This painting is concept art; everything after the next slide is the real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physics and maths stay abstract, and a wrong guess costs nothing to learn from only if you can see it. Kestrel makes the prediction physical and the result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physics: MuJoCo 3.11 compiled to WASM runs the upstream Microduck MJCF, and seven upstream ONNX policies drive the joints at 50 Hz. The figure is cropped from a real console screenshot; final robot art is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hinged beam with a 200 g and a 100 g weight on rails. Each robot pushes its own weight's paddle. Lock, push, withdraw, verify clear, release, then a measured tilt compared with the moments from the measured positions. The lock pin and rail clamps are idealised kinematic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tiles of 3 by 3, 4 by 4 and 5 by 5 are pushed onto a floor triangle. The robots can build it together. XP fills only on a measured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fast clash, closing faster than 0.45 m/s into 20 cm, draws a cartoon explosion. The loser is knocked over by a scripted velocity impulse, not crash physics, and gets up with its own get-up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and Claude need server keys in .env. The model proposes bounded actions and explains measured results; bubbles show public plans, not hidden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Bot-to-bot help should serve the experiment: observe, test, report a measured result. Lanes are scheduled today; robot avoidance while both walk the same lane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beam was won in about 12 seconds; the browser sent POST /api/progress (201) and Tiger stored balance-beam ok=true, tilt 0.2 degrees, 10 cm and 20 cm. Strict TLS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boundary honest: no physical lifting, no final robot art, no accounts or production hosting yet. A youth-facing rollout needs provider under-18 guidance and minimal retained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judges to the laptop: open /console, set 200 g at 10 cm and 100 g at 20 cm, run it with both robots, and watch the objective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magery">
    <p:bg>
      <p:bgPr>
        <a:solidFill>
          <a:srgbClr val="FEFFF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EFFF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58952" y="1097280"/>
            <a:ext cx="10424160" cy="2926080"/>
          </a:xfrm>
          <a:prstGeom prst="rect">
            <a:avLst/>
          </a:prstGeom>
          <a:noFill/>
          <a:ln/>
        </p:spPr>
        <p:txBody>
          <a:bodyPr wrap="square" rtlCol="0"/>
          <a:lstStyle>
            <a:lvl1pPr algn="l" indent="0" marL="0">
              <a:lnSpc>
                <a:spcPct val="105000"/>
              </a:lnSpc>
              <a:buNone/>
              <a:defRPr lang="en-US" sz="4000" spc="-80" kern="0" dirty="0">
                <a:solidFill>
                  <a:schemeClr val="tx1"/>
                </a:solidFill>
              </a:defRPr>
            </a:lvl1pPr>
          </a:lstStyle>
          <a:p>
            <a:pPr algn="l" indent="0" marL="0">
              <a:lnSpc>
                <a:spcPct val="105000"/>
              </a:lnSpc>
              <a:buNone/>
            </a:pPr>
            <a:endParaRPr lang="en-US" sz="4000" dirty="0"/>
          </a:p>
        </p:txBody>
      </p:sp>
      <p:sp>
        <p:nvSpPr>
          <p:cNvPr id="3" name="Text 0"/>
          <p:cNvSpPr/>
          <p:nvPr>
            <p:ph idx="101" type="body" hasCustomPrompt="1"/>
          </p:nvPr>
        </p:nvSpPr>
        <p:spPr>
          <a:xfrm>
            <a:off x="758952" y="4297680"/>
            <a:ext cx="6949440" cy="1097280"/>
          </a:xfrm>
          <a:prstGeom prst="rect">
            <a:avLst/>
          </a:prstGeom>
          <a:noFill/>
          <a:ln/>
        </p:spPr>
        <p:txBody>
          <a:bodyPr wrap="square" rtlCol="0"/>
          <a:lstStyle>
            <a:lvl1pPr algn="l" indent="0" marL="0">
              <a:lnSpc>
                <a:spcPct val="125000"/>
              </a:lnSpc>
              <a:buNone/>
              <a:defRPr lang="en-US" sz="1600" dirty="0">
                <a:solidFill>
                  <a:schemeClr val="accent1"/>
                </a:solidFill>
              </a:defRPr>
            </a:lvl1pPr>
          </a:lstStyle>
          <a:p>
            <a:pPr algn="l" indent="0" marL="0">
              <a:lnSpc>
                <a:spcPct val="125000"/>
              </a:lnSpc>
              <a:buNone/>
            </a:pPr>
            <a:endParaRPr lang="en-US" sz="1600" dirty="0"/>
          </a:p>
        </p:txBody>
      </p:sp>
      <p:sp>
        <p:nvSpPr>
          <p:cNvPr id="4" name="Shape 0"/>
          <p:cNvSpPr/>
          <p:nvPr/>
        </p:nvSpPr>
        <p:spPr>
          <a:xfrm>
            <a:off x="0" y="6473952"/>
            <a:ext cx="12191695" cy="50292"/>
          </a:xfrm>
          <a:prstGeom prst="rect">
            <a:avLst/>
          </a:prstGeom>
          <a:solidFill>
            <a:srgbClr val="334444"/>
          </a:solidFill>
          <a:ln/>
        </p:spPr>
      </p:sp>
      <p:sp>
        <p:nvSpPr>
          <p:cNvPr id="5" name="Shape 1"/>
          <p:cNvSpPr/>
          <p:nvPr/>
        </p:nvSpPr>
        <p:spPr>
          <a:xfrm>
            <a:off x="0" y="6542532"/>
            <a:ext cx="12191695" cy="50292"/>
          </a:xfrm>
          <a:prstGeom prst="rect">
            <a:avLst/>
          </a:prstGeom>
          <a:solidFill>
            <a:srgbClr val="576A6A"/>
          </a:solidFill>
          <a:ln/>
        </p:spPr>
      </p:sp>
      <p:sp>
        <p:nvSpPr>
          <p:cNvPr id="6" name="Shape 2"/>
          <p:cNvSpPr/>
          <p:nvPr/>
        </p:nvSpPr>
        <p:spPr>
          <a:xfrm>
            <a:off x="0" y="6611112"/>
            <a:ext cx="12191695" cy="50292"/>
          </a:xfrm>
          <a:prstGeom prst="rect">
            <a:avLst/>
          </a:prstGeom>
          <a:solidFill>
            <a:srgbClr val="728383"/>
          </a:solidFill>
          <a:ln/>
        </p:spPr>
      </p:sp>
      <p:sp>
        <p:nvSpPr>
          <p:cNvPr id="7" name="Shape 3"/>
          <p:cNvSpPr/>
          <p:nvPr/>
        </p:nvSpPr>
        <p:spPr>
          <a:xfrm>
            <a:off x="0" y="6679692"/>
            <a:ext cx="12191695" cy="50292"/>
          </a:xfrm>
          <a:prstGeom prst="rect">
            <a:avLst/>
          </a:prstGeom>
          <a:solidFill>
            <a:srgbClr val="A5AFAF"/>
          </a:solidFill>
          <a:ln/>
        </p:spPr>
      </p:sp>
      <p:sp>
        <p:nvSpPr>
          <p:cNvPr id="8" name="Shape 4"/>
          <p:cNvSpPr/>
          <p:nvPr/>
        </p:nvSpPr>
        <p:spPr>
          <a:xfrm>
            <a:off x="0" y="6748272"/>
            <a:ext cx="12191695" cy="50292"/>
          </a:xfrm>
          <a:prstGeom prst="rect">
            <a:avLst/>
          </a:prstGeom>
          <a:solidFill>
            <a:srgbClr val="CFD3CF"/>
          </a:solidFill>
          <a:ln/>
        </p:spPr>
      </p:sp>
      <p:sp>
        <p:nvSpPr>
          <p:cNvPr id="25" name="Slide Number Placeholder 0"/>
          <p:cNvSpPr>
            <a:spLocks noGrp="1"/>
          </p:cNvSpPr>
          <p:nvPr>
            <p:ph type="sldNum" sz="quarter" idx="4294967295"/>
          </p:nvPr>
        </p:nvSpPr>
        <p:spPr>
          <a:xfrm>
            <a:off x="11247120" y="61722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gure">
    <p:bg>
      <p:bgPr>
        <a:solidFill>
          <a:srgbClr val="FEFFF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EFFF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58952" y="548640"/>
            <a:ext cx="10607040" cy="1371600"/>
          </a:xfrm>
          <a:prstGeom prst="rect">
            <a:avLst/>
          </a:prstGeom>
          <a:noFill/>
          <a:ln/>
        </p:spPr>
        <p:txBody>
          <a:bodyPr wrap="square" rtlCol="0"/>
          <a:lstStyle>
            <a:lvl1pPr algn="l" indent="0" marL="0">
              <a:lnSpc>
                <a:spcPct val="105000"/>
              </a:lnSpc>
              <a:buNone/>
              <a:defRPr lang="en-US" sz="3600" spc="-72" kern="0" dirty="0">
                <a:solidFill>
                  <a:schemeClr val="tx1"/>
                </a:solidFill>
              </a:defRPr>
            </a:lvl1pPr>
          </a:lstStyle>
          <a:p>
            <a:pPr algn="l" indent="0" marL="0">
              <a:lnSpc>
                <a:spcPct val="105000"/>
              </a:lnSpc>
              <a:buNone/>
            </a:pPr>
            <a:endParaRPr lang="en-US" sz="36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1722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estrel mark" descr="kestrel">    </p:cNvPr>
          <p:cNvPicPr>
            <a:picLocks noChangeAspect="1"/>
          </p:cNvPicPr>
          <p:nvPr/>
        </p:nvPicPr>
        <p:blipFill>
          <a:blip r:embed="rId2"/>
          <a:stretch>
            <a:fillRect/>
          </a:stretch>
        </p:blipFill>
        <p:spPr>
          <a:xfrm>
            <a:off x="457200" y="384048"/>
            <a:ext cx="2059125" cy="566928"/>
          </a:xfrm>
          <a:prstGeom prst="rect">
            <a:avLst/>
          </a:prstGeom>
        </p:spPr>
      </p:pic>
      <p:sp>
        <p:nvSpPr>
          <p:cNvPr id="3" name="Title"/>
          <p:cNvSpPr txBox="1"/>
          <p:nvPr/>
        </p:nvSpPr>
        <p:spPr>
          <a:xfrm>
            <a:off x="6426200" y="3581400"/>
            <a:ext cx="4851400" cy="1005840"/>
          </a:xfrm>
          <a:prstGeom prst="rect">
            <a:avLst/>
          </a:prstGeom>
          <a:noFill/>
          <a:ln/>
        </p:spPr>
        <p:txBody>
          <a:bodyPr wrap="square" lIns="0" tIns="0" rIns="0" bIns="0" rtlCol="0" anchor="t"/>
          <a:lstStyle/>
          <a:p>
            <a:pPr indent="0" marL="0">
              <a:lnSpc>
                <a:spcPct val="105000"/>
              </a:lnSpc>
              <a:buNone/>
            </a:pPr>
            <a:r>
              <a:rPr lang="en-US" sz="3000" spc="-60" kern="0" dirty="0">
                <a:solidFill>
                  <a:srgbClr val="FFFFFF"/>
                </a:solidFill>
                <a:latin typeface="Inter" pitchFamily="34" charset="0"/>
                <a:ea typeface="Inter" pitchFamily="34" charset="-122"/>
                <a:cs typeface="Inter" pitchFamily="34" charset="-120"/>
              </a:rPr>
              <a:t>Two small robots who want to know why.</a:t>
            </a:r>
            <a:endParaRPr lang="en-US" sz="3000" dirty="0"/>
          </a:p>
        </p:txBody>
      </p:sp>
      <p:sp>
        <p:nvSpPr>
          <p:cNvPr id="4" name="Subtitle"/>
          <p:cNvSpPr txBox="1"/>
          <p:nvPr/>
        </p:nvSpPr>
        <p:spPr>
          <a:xfrm>
            <a:off x="6426200" y="4678680"/>
            <a:ext cx="4851400" cy="822960"/>
          </a:xfrm>
          <a:prstGeom prst="rect">
            <a:avLst/>
          </a:prstGeom>
          <a:noFill/>
          <a:ln/>
        </p:spPr>
        <p:txBody>
          <a:bodyPr wrap="square" lIns="0" tIns="0" rIns="0" bIns="0" rtlCol="0" anchor="t"/>
          <a:lstStyle/>
          <a:p>
            <a:pPr indent="0" marL="0">
              <a:lnSpc>
                <a:spcPct val="130000"/>
              </a:lnSpc>
              <a:buNone/>
            </a:pPr>
            <a:r>
              <a:rPr lang="en-US" sz="1600" dirty="0">
                <a:solidFill>
                  <a:srgbClr val="FFFFFF"/>
                </a:solidFill>
                <a:latin typeface="Inter" pitchFamily="34" charset="0"/>
                <a:ea typeface="Inter" pitchFamily="34" charset="-122"/>
                <a:cs typeface="Inter" pitchFamily="34" charset="-120"/>
              </a:rPr>
              <a:t>Kestrel is a science and maths playground where you tell Pip and Nova what to try, and the physics answers.</a:t>
            </a:r>
            <a:endParaRPr lang="en-US" sz="1600" dirty="0"/>
          </a:p>
        </p:txBody>
      </p:sp>
      <p:sp>
        <p:nvSpPr>
          <p:cNvPr id="5" name="Caption"/>
          <p:cNvSpPr txBox="1"/>
          <p:nvPr/>
        </p:nvSpPr>
        <p:spPr>
          <a:xfrm>
            <a:off x="6426200" y="5775960"/>
            <a:ext cx="485140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HackPSU 2026  ·  Concept art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58952" y="1097280"/>
            <a:ext cx="10424160" cy="2926080"/>
          </a:xfrm>
          <a:prstGeom prst="rect">
            <a:avLst/>
          </a:prstGeom>
          <a:noFill/>
          <a:ln/>
        </p:spPr>
        <p:txBody>
          <a:bodyPr wrap="square" lIns="0" tIns="0" rIns="0" bIns="0" rtlCol="0" anchor="t"/>
          <a:lstStyle/>
          <a:p>
            <a:pPr algn="l" indent="0" marL="0">
              <a:lnSpc>
                <a:spcPct val="105000"/>
              </a:lnSpc>
              <a:buNone/>
            </a:pPr>
            <a:r>
              <a:rPr lang="en-US" sz="4000" spc="-80" kern="0" dirty="0">
                <a:solidFill>
                  <a:srgbClr val="2C2C2C"/>
                </a:solidFill>
              </a:rPr>
              <a:t>Most lessons ask you to imagine the experiment. </a:t>
            </a:r>
            <a:pPr algn="l" indent="0" marL="0">
              <a:lnSpc>
                <a:spcPct val="105000"/>
              </a:lnSpc>
              <a:buNone/>
            </a:pPr>
            <a:r>
              <a:rPr lang="en-US" sz="4000" spc="-80" kern="0" dirty="0">
                <a:solidFill>
                  <a:srgbClr val="B4B8B4"/>
                </a:solidFill>
              </a:rPr>
              <a:t>Kestrel lets you run it, predict it and be wrong about it</a:t>
            </a:r>
            <a:pPr algn="l" indent="0" marL="0">
              <a:lnSpc>
                <a:spcPct val="105000"/>
              </a:lnSpc>
              <a:buNone/>
            </a:pPr>
            <a:r>
              <a:rPr lang="en-US" sz="4000" spc="-80" kern="0" dirty="0">
                <a:solidFill>
                  <a:srgbClr val="2C2C2C"/>
                </a:solidFill>
              </a:rPr>
              <a:t> with two robots beside you</a:t>
            </a:r>
            <a:endParaRPr lang="en-US" sz="4000" dirty="0"/>
          </a:p>
        </p:txBody>
      </p:sp>
      <p:sp>
        <p:nvSpPr>
          <p:cNvPr id="3" name="Text 0"/>
          <p:cNvSpPr/>
          <p:nvPr>
            <p:ph idx="101" type="body" hasCustomPrompt="1"/>
          </p:nvPr>
        </p:nvSpPr>
        <p:spPr>
          <a:xfrm>
            <a:off x="758952" y="4297680"/>
            <a:ext cx="6949440" cy="1097280"/>
          </a:xfrm>
          <a:prstGeom prst="rect">
            <a:avLst/>
          </a:prstGeom>
          <a:noFill/>
          <a:ln/>
        </p:spPr>
        <p:txBody>
          <a:bodyPr wrap="square" lIns="0" tIns="0" rIns="0" bIns="0" rtlCol="0" anchor="t"/>
          <a:lstStyle/>
          <a:p>
            <a:pPr algn="l" indent="0" marL="0">
              <a:lnSpc>
                <a:spcPct val="125000"/>
              </a:lnSpc>
              <a:buNone/>
            </a:pPr>
            <a:r>
              <a:rPr lang="en-US" sz="1600" dirty="0">
                <a:solidFill>
                  <a:schemeClr val="accent1"/>
                </a:solidFill>
              </a:rPr>
              <a:t>You make the prediction, the simulator measures the result, and the robots talk it through with you.</a:t>
            </a:r>
            <a:endParaRPr lang="en-US" sz="1600" dirty="0"/>
          </a:p>
        </p:txBody>
      </p:sp>
      <p:sp>
        <p:nvSpPr>
          <p:cNvPr id="25" name="Slide Number Placeholder 0"/>
          <p:cNvSpPr>
            <a:spLocks noGrp="1"/>
          </p:cNvSpPr>
          <p:nvPr>
            <p:ph type="sldNum" sz="quarter" idx="4294967295"/>
          </p:nvPr>
        </p:nvSpPr>
        <p:spPr>
          <a:xfrm>
            <a:off x="11247120" y="61722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758952" y="685800"/>
            <a:ext cx="548640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The companions</a:t>
            </a:r>
            <a:endParaRPr lang="en-US" sz="1200" dirty="0"/>
          </a:p>
        </p:txBody>
      </p:sp>
      <p:sp>
        <p:nvSpPr>
          <p:cNvPr id="3" name="Heading"/>
          <p:cNvSpPr txBox="1"/>
          <p:nvPr/>
        </p:nvSpPr>
        <p:spPr>
          <a:xfrm>
            <a:off x="758952" y="1005840"/>
            <a:ext cx="6400800" cy="1737360"/>
          </a:xfrm>
          <a:prstGeom prst="rect">
            <a:avLst/>
          </a:prstGeom>
          <a:noFill/>
          <a:ln/>
        </p:spPr>
        <p:txBody>
          <a:bodyPr wrap="square" lIns="0" tIns="0" rIns="0" bIns="0" rtlCol="0" anchor="t"/>
          <a:lstStyle/>
          <a:p>
            <a:pPr indent="0" marL="0">
              <a:lnSpc>
                <a:spcPct val="105000"/>
              </a:lnSpc>
              <a:buNone/>
            </a:pPr>
            <a:r>
              <a:rPr lang="en-US" sz="3200" spc="-64" kern="0" dirty="0">
                <a:solidFill>
                  <a:srgbClr val="2C2C2C"/>
                </a:solidFill>
                <a:latin typeface="Inter" pitchFamily="34" charset="0"/>
                <a:ea typeface="Inter" pitchFamily="34" charset="-122"/>
                <a:cs typeface="Inter" pitchFamily="34" charset="-120"/>
              </a:rPr>
              <a:t>Pip and Nova are Microducks that really walk. </a:t>
            </a:r>
            <a:pPr indent="0" marL="0">
              <a:lnSpc>
                <a:spcPct val="105000"/>
              </a:lnSpc>
              <a:buNone/>
            </a:pPr>
            <a:r>
              <a:rPr lang="en-US" sz="3200" spc="-64" kern="0" dirty="0">
                <a:solidFill>
                  <a:srgbClr val="B4B8B4"/>
                </a:solidFill>
                <a:latin typeface="Inter" pitchFamily="34" charset="0"/>
                <a:ea typeface="Inter" pitchFamily="34" charset="-122"/>
                <a:cs typeface="Inter" pitchFamily="34" charset="-120"/>
              </a:rPr>
              <a:t>Their motion comes from physics, not animation.</a:t>
            </a:r>
            <a:endParaRPr lang="en-US" sz="3200" dirty="0"/>
          </a:p>
        </p:txBody>
      </p:sp>
      <p:sp>
        <p:nvSpPr>
          <p:cNvPr id="4" name="Fact 1 rule"/>
          <p:cNvSpPr/>
          <p:nvPr/>
        </p:nvSpPr>
        <p:spPr>
          <a:xfrm>
            <a:off x="758952" y="3154680"/>
            <a:ext cx="6217920" cy="0"/>
          </a:xfrm>
          <a:prstGeom prst="line">
            <a:avLst/>
          </a:prstGeom>
          <a:noFill/>
          <a:ln w="9525">
            <a:solidFill>
              <a:srgbClr val="DEE2DE"/>
            </a:solidFill>
            <a:prstDash val="solid"/>
          </a:ln>
        </p:spPr>
      </p:sp>
      <p:sp>
        <p:nvSpPr>
          <p:cNvPr id="5" name="Fact 1 figure"/>
          <p:cNvSpPr txBox="1"/>
          <p:nvPr/>
        </p:nvSpPr>
        <p:spPr>
          <a:xfrm>
            <a:off x="758952" y="3319272"/>
            <a:ext cx="2011680" cy="640080"/>
          </a:xfrm>
          <a:prstGeom prst="rect">
            <a:avLst/>
          </a:prstGeom>
          <a:noFill/>
          <a:ln/>
        </p:spPr>
        <p:txBody>
          <a:bodyPr wrap="square" lIns="0" tIns="0" rIns="0" bIns="0" rtlCol="0" anchor="t"/>
          <a:lstStyle/>
          <a:p>
            <a:pPr indent="0" marL="0">
              <a:buNone/>
            </a:pPr>
            <a:r>
              <a:rPr lang="en-US" sz="3000" spc="-60" kern="0" dirty="0">
                <a:solidFill>
                  <a:srgbClr val="2C2C2C"/>
                </a:solidFill>
                <a:latin typeface="Inter" pitchFamily="34" charset="0"/>
                <a:ea typeface="Inter" pitchFamily="34" charset="-122"/>
                <a:cs typeface="Inter" pitchFamily="34" charset="-120"/>
              </a:rPr>
              <a:t>50 Hz</a:t>
            </a:r>
            <a:endParaRPr lang="en-US" sz="3000" dirty="0"/>
          </a:p>
        </p:txBody>
      </p:sp>
      <p:sp>
        <p:nvSpPr>
          <p:cNvPr id="6" name="Fact 1 text"/>
          <p:cNvSpPr txBox="1"/>
          <p:nvPr/>
        </p:nvSpPr>
        <p:spPr>
          <a:xfrm>
            <a:off x="2834640" y="3337560"/>
            <a:ext cx="4114800" cy="731520"/>
          </a:xfrm>
          <a:prstGeom prst="rect">
            <a:avLst/>
          </a:prstGeom>
          <a:noFill/>
          <a:ln/>
        </p:spPr>
        <p:txBody>
          <a:bodyPr wrap="square" lIns="0" tIns="0" rIns="0" bIns="0" rtlCol="0" anchor="t"/>
          <a:lstStyle/>
          <a:p>
            <a:pPr indent="0" marL="0">
              <a:lnSpc>
                <a:spcPct val="125000"/>
              </a:lnSpc>
              <a:buNone/>
            </a:pPr>
            <a:r>
              <a:rPr lang="en-US" sz="1500" dirty="0">
                <a:solidFill>
                  <a:srgbClr val="646464"/>
                </a:solidFill>
                <a:latin typeface="Inter" pitchFamily="34" charset="0"/>
                <a:ea typeface="Inter" pitchFamily="34" charset="-122"/>
                <a:cs typeface="Inter" pitchFamily="34" charset="-120"/>
              </a:rPr>
              <a:t>Seven upstream ONNX policies: walk, sit and stand, get up, kick, roll and peck.</a:t>
            </a:r>
            <a:endParaRPr lang="en-US" sz="1500" dirty="0"/>
          </a:p>
        </p:txBody>
      </p:sp>
      <p:sp>
        <p:nvSpPr>
          <p:cNvPr id="7" name="Fact 2 rule"/>
          <p:cNvSpPr/>
          <p:nvPr/>
        </p:nvSpPr>
        <p:spPr>
          <a:xfrm>
            <a:off x="758952" y="4178808"/>
            <a:ext cx="6217920" cy="0"/>
          </a:xfrm>
          <a:prstGeom prst="line">
            <a:avLst/>
          </a:prstGeom>
          <a:noFill/>
          <a:ln w="9525">
            <a:solidFill>
              <a:srgbClr val="DEE2DE"/>
            </a:solidFill>
            <a:prstDash val="solid"/>
          </a:ln>
        </p:spPr>
      </p:sp>
      <p:sp>
        <p:nvSpPr>
          <p:cNvPr id="8" name="Fact 2 figure"/>
          <p:cNvSpPr txBox="1"/>
          <p:nvPr/>
        </p:nvSpPr>
        <p:spPr>
          <a:xfrm>
            <a:off x="758952" y="4343400"/>
            <a:ext cx="2011680" cy="640080"/>
          </a:xfrm>
          <a:prstGeom prst="rect">
            <a:avLst/>
          </a:prstGeom>
          <a:noFill/>
          <a:ln/>
        </p:spPr>
        <p:txBody>
          <a:bodyPr wrap="square" lIns="0" tIns="0" rIns="0" bIns="0" rtlCol="0" anchor="t"/>
          <a:lstStyle/>
          <a:p>
            <a:pPr indent="0" marL="0">
              <a:buNone/>
            </a:pPr>
            <a:r>
              <a:rPr lang="en-US" sz="3000" spc="-60" kern="0" dirty="0">
                <a:solidFill>
                  <a:srgbClr val="2C2C2C"/>
                </a:solidFill>
                <a:latin typeface="Inter" pitchFamily="34" charset="0"/>
                <a:ea typeface="Inter" pitchFamily="34" charset="-122"/>
                <a:cs typeface="Inter" pitchFamily="34" charset="-120"/>
              </a:rPr>
              <a:t>MuJoCo</a:t>
            </a:r>
            <a:endParaRPr lang="en-US" sz="3000" dirty="0"/>
          </a:p>
        </p:txBody>
      </p:sp>
      <p:sp>
        <p:nvSpPr>
          <p:cNvPr id="9" name="Fact 2 text"/>
          <p:cNvSpPr txBox="1"/>
          <p:nvPr/>
        </p:nvSpPr>
        <p:spPr>
          <a:xfrm>
            <a:off x="2834640" y="4361688"/>
            <a:ext cx="4114800" cy="731520"/>
          </a:xfrm>
          <a:prstGeom prst="rect">
            <a:avLst/>
          </a:prstGeom>
          <a:noFill/>
          <a:ln/>
        </p:spPr>
        <p:txBody>
          <a:bodyPr wrap="square" lIns="0" tIns="0" rIns="0" bIns="0" rtlCol="0" anchor="t"/>
          <a:lstStyle/>
          <a:p>
            <a:pPr indent="0" marL="0">
              <a:lnSpc>
                <a:spcPct val="125000"/>
              </a:lnSpc>
              <a:buNone/>
            </a:pPr>
            <a:r>
              <a:rPr lang="en-US" sz="1500" dirty="0">
                <a:solidFill>
                  <a:srgbClr val="646464"/>
                </a:solidFill>
                <a:latin typeface="Inter" pitchFamily="34" charset="0"/>
                <a:ea typeface="Inter" pitchFamily="34" charset="-122"/>
                <a:cs typeface="Inter" pitchFamily="34" charset="-120"/>
              </a:rPr>
              <a:t>Version 3.11 in WASM, stepping the upstream Microduck model in the browser.</a:t>
            </a:r>
            <a:endParaRPr lang="en-US" sz="1500" dirty="0"/>
          </a:p>
        </p:txBody>
      </p:sp>
      <p:sp>
        <p:nvSpPr>
          <p:cNvPr id="10" name="Fact 3 rule"/>
          <p:cNvSpPr/>
          <p:nvPr/>
        </p:nvSpPr>
        <p:spPr>
          <a:xfrm>
            <a:off x="758952" y="5202936"/>
            <a:ext cx="6217920" cy="0"/>
          </a:xfrm>
          <a:prstGeom prst="line">
            <a:avLst/>
          </a:prstGeom>
          <a:noFill/>
          <a:ln w="9525">
            <a:solidFill>
              <a:srgbClr val="DEE2DE"/>
            </a:solidFill>
            <a:prstDash val="solid"/>
          </a:ln>
        </p:spPr>
      </p:sp>
      <p:sp>
        <p:nvSpPr>
          <p:cNvPr id="11" name="Fact 3 figure"/>
          <p:cNvSpPr txBox="1"/>
          <p:nvPr/>
        </p:nvSpPr>
        <p:spPr>
          <a:xfrm>
            <a:off x="758952" y="5367528"/>
            <a:ext cx="2011680" cy="640080"/>
          </a:xfrm>
          <a:prstGeom prst="rect">
            <a:avLst/>
          </a:prstGeom>
          <a:noFill/>
          <a:ln/>
        </p:spPr>
        <p:txBody>
          <a:bodyPr wrap="square" lIns="0" tIns="0" rIns="0" bIns="0" rtlCol="0" anchor="t"/>
          <a:lstStyle/>
          <a:p>
            <a:pPr indent="0" marL="0">
              <a:buNone/>
            </a:pPr>
            <a:r>
              <a:rPr lang="en-US" sz="3000" spc="-60" kern="0" dirty="0">
                <a:solidFill>
                  <a:srgbClr val="2C2C2C"/>
                </a:solidFill>
                <a:latin typeface="Inter" pitchFamily="34" charset="0"/>
                <a:ea typeface="Inter" pitchFamily="34" charset="-122"/>
                <a:cs typeface="Inter" pitchFamily="34" charset="-120"/>
              </a:rPr>
              <a:t>2 robots</a:t>
            </a:r>
            <a:endParaRPr lang="en-US" sz="3000" dirty="0"/>
          </a:p>
        </p:txBody>
      </p:sp>
      <p:sp>
        <p:nvSpPr>
          <p:cNvPr id="12" name="Fact 3 text"/>
          <p:cNvSpPr txBox="1"/>
          <p:nvPr/>
        </p:nvSpPr>
        <p:spPr>
          <a:xfrm>
            <a:off x="2834640" y="5385816"/>
            <a:ext cx="4114800" cy="731520"/>
          </a:xfrm>
          <a:prstGeom prst="rect">
            <a:avLst/>
          </a:prstGeom>
          <a:noFill/>
          <a:ln/>
        </p:spPr>
        <p:txBody>
          <a:bodyPr wrap="square" lIns="0" tIns="0" rIns="0" bIns="0" rtlCol="0" anchor="t"/>
          <a:lstStyle/>
          <a:p>
            <a:pPr indent="0" marL="0">
              <a:lnSpc>
                <a:spcPct val="125000"/>
              </a:lnSpc>
              <a:buNone/>
            </a:pPr>
            <a:r>
              <a:rPr lang="en-US" sz="1500" dirty="0">
                <a:solidFill>
                  <a:srgbClr val="646464"/>
                </a:solidFill>
                <a:latin typeface="Inter" pitchFamily="34" charset="0"/>
                <a:ea typeface="Inter" pitchFamily="34" charset="-122"/>
                <a:cs typeface="Inter" pitchFamily="34" charset="-120"/>
              </a:rPr>
              <a:t>Share one world with the apparatus, and really collide.</a:t>
            </a:r>
            <a:endParaRPr lang="en-US" sz="1500" dirty="0"/>
          </a:p>
        </p:txBody>
      </p:sp>
      <p:sp>
        <p:nvSpPr>
          <p:cNvPr id="13" name="Robots frame"/>
          <p:cNvSpPr/>
          <p:nvPr/>
        </p:nvSpPr>
        <p:spPr>
          <a:xfrm>
            <a:off x="7818120" y="685800"/>
            <a:ext cx="3611880" cy="4206240"/>
          </a:xfrm>
          <a:prstGeom prst="roundRect">
            <a:avLst>
              <a:gd name="adj" fmla="val 4219"/>
            </a:avLst>
          </a:prstGeom>
          <a:solidFill>
            <a:srgbClr val="F9FAF7"/>
          </a:solidFill>
          <a:ln w="9525">
            <a:solidFill>
              <a:srgbClr val="DEE2DE"/>
            </a:solidFill>
            <a:prstDash val="solid"/>
          </a:ln>
        </p:spPr>
      </p:sp>
      <p:pic>
        <p:nvPicPr>
          <p:cNvPr id="14" name="Robots image" descr="Pip and Nova in the real console">    </p:cNvPr>
          <p:cNvPicPr>
            <a:picLocks noChangeAspect="1"/>
          </p:cNvPicPr>
          <p:nvPr/>
        </p:nvPicPr>
        <p:blipFill>
          <a:blip r:embed="rId1"/>
          <a:stretch>
            <a:fillRect/>
          </a:stretch>
        </p:blipFill>
        <p:spPr>
          <a:xfrm>
            <a:off x="7945120" y="812800"/>
            <a:ext cx="3357880" cy="3952240"/>
          </a:xfrm>
          <a:prstGeom prst="rect">
            <a:avLst/>
          </a:prstGeom>
        </p:spPr>
      </p:pic>
      <p:sp>
        <p:nvSpPr>
          <p:cNvPr id="15" name="Robots caption"/>
          <p:cNvSpPr txBox="1"/>
          <p:nvPr/>
        </p:nvSpPr>
        <p:spPr>
          <a:xfrm>
            <a:off x="7818120" y="5001768"/>
            <a:ext cx="3611880" cy="274320"/>
          </a:xfrm>
          <a:prstGeom prst="rect">
            <a:avLst/>
          </a:prstGeom>
          <a:noFill/>
          <a:ln/>
        </p:spPr>
        <p:txBody>
          <a:bodyPr wrap="square" lIns="0" tIns="0" rIns="0" bIns="0" rtlCol="0" anchor="t"/>
          <a:lstStyle/>
          <a:p>
            <a:pPr indent="0" marL="0">
              <a:buNone/>
            </a:pPr>
            <a:r>
              <a:rPr lang="en-US" sz="1100" dirty="0">
                <a:solidFill>
                  <a:srgbClr val="646464"/>
                </a:solidFill>
                <a:latin typeface="Inter" pitchFamily="34" charset="0"/>
                <a:ea typeface="Inter" pitchFamily="34" charset="-122"/>
                <a:cs typeface="Inter" pitchFamily="34" charset="-120"/>
              </a:rPr>
              <a:t>Fig. 1</a:t>
            </a:r>
            <a:pPr indent="0" marL="0">
              <a:buNone/>
            </a:pPr>
            <a:r>
              <a:rPr lang="en-US" sz="1100" dirty="0">
                <a:solidFill>
                  <a:srgbClr val="646464"/>
                </a:solidFill>
                <a:latin typeface="Inter" pitchFamily="34" charset="0"/>
                <a:ea typeface="Inter" pitchFamily="34" charset="-122"/>
                <a:cs typeface="Inter" pitchFamily="34" charset="-120"/>
              </a:rPr>
              <a:t>   Pip and Nova in the real console</a:t>
            </a:r>
            <a:endParaRPr lang="en-US" sz="11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758952" y="1143000"/>
            <a:ext cx="374904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Objective 1  ·  Physics · Moments</a:t>
            </a:r>
            <a:endParaRPr lang="en-US" sz="1200" dirty="0"/>
          </a:p>
        </p:txBody>
      </p:sp>
      <p:sp>
        <p:nvSpPr>
          <p:cNvPr id="3" name="Heading"/>
          <p:cNvSpPr txBox="1"/>
          <p:nvPr/>
        </p:nvSpPr>
        <p:spPr>
          <a:xfrm>
            <a:off x="758952" y="1463040"/>
            <a:ext cx="3749040" cy="1097280"/>
          </a:xfrm>
          <a:prstGeom prst="rect">
            <a:avLst/>
          </a:prstGeom>
          <a:noFill/>
          <a:ln/>
        </p:spPr>
        <p:txBody>
          <a:bodyPr wrap="square" lIns="0" tIns="0" rIns="0" bIns="0" rtlCol="0" anchor="t"/>
          <a:lstStyle/>
          <a:p>
            <a:pPr indent="0" marL="0">
              <a:lnSpc>
                <a:spcPct val="105000"/>
              </a:lnSpc>
              <a:buNone/>
            </a:pPr>
            <a:r>
              <a:rPr lang="en-US" sz="3200" spc="-64" kern="0" dirty="0">
                <a:solidFill>
                  <a:srgbClr val="2C2C2C"/>
                </a:solidFill>
                <a:latin typeface="Inter" pitchFamily="34" charset="0"/>
                <a:ea typeface="Inter" pitchFamily="34" charset="-122"/>
                <a:cs typeface="Inter" pitchFamily="34" charset="-120"/>
              </a:rPr>
              <a:t>Balance the beam</a:t>
            </a:r>
            <a:endParaRPr lang="en-US" sz="3200" dirty="0"/>
          </a:p>
        </p:txBody>
      </p:sp>
      <p:sp>
        <p:nvSpPr>
          <p:cNvPr id="4" name="Body"/>
          <p:cNvSpPr txBox="1"/>
          <p:nvPr/>
        </p:nvSpPr>
        <p:spPr>
          <a:xfrm>
            <a:off x="758952" y="2606040"/>
            <a:ext cx="3749040" cy="1554480"/>
          </a:xfrm>
          <a:prstGeom prst="rect">
            <a:avLst/>
          </a:prstGeom>
          <a:noFill/>
          <a:ln/>
        </p:spPr>
        <p:txBody>
          <a:bodyPr wrap="square" lIns="0" tIns="0" rIns="0" bIns="0" rtlCol="0" anchor="t"/>
          <a:lstStyle/>
          <a:p>
            <a:pPr indent="0" marL="0">
              <a:lnSpc>
                <a:spcPct val="130000"/>
              </a:lnSpc>
              <a:buNone/>
            </a:pPr>
            <a:r>
              <a:rPr lang="en-US" sz="1600" dirty="0">
                <a:solidFill>
                  <a:srgbClr val="646464"/>
                </a:solidFill>
                <a:latin typeface="Inter" pitchFamily="34" charset="0"/>
                <a:ea typeface="Inter" pitchFamily="34" charset="-122"/>
                <a:cs typeface="Inter" pitchFamily="34" charset="-120"/>
              </a:rPr>
              <a:t>Choose where Pip's 200 g and Nova's 100 g go, predict which way the plank tips, then let both robots push their weights into place.</a:t>
            </a:r>
            <a:endParaRPr lang="en-US" sz="1600" dirty="0"/>
          </a:p>
        </p:txBody>
      </p:sp>
      <p:sp>
        <p:nvSpPr>
          <p:cNvPr id="5" name="Note"/>
          <p:cNvSpPr txBox="1"/>
          <p:nvPr/>
        </p:nvSpPr>
        <p:spPr>
          <a:xfrm>
            <a:off x="758952" y="4251960"/>
            <a:ext cx="3749040" cy="914400"/>
          </a:xfrm>
          <a:prstGeom prst="rect">
            <a:avLst/>
          </a:prstGeom>
          <a:noFill/>
          <a:ln/>
        </p:spPr>
        <p:txBody>
          <a:bodyPr wrap="square" lIns="0" tIns="0" rIns="0" bIns="0" rtlCol="0" anchor="t"/>
          <a:lstStyle/>
          <a:p>
            <a:pPr indent="0" marL="0">
              <a:lnSpc>
                <a:spcPct val="130000"/>
              </a:lnSpc>
              <a:buNone/>
            </a:pPr>
            <a:r>
              <a:rPr lang="en-US" sz="1600" dirty="0">
                <a:solidFill>
                  <a:srgbClr val="2C2C2C"/>
                </a:solidFill>
                <a:latin typeface="Inter" pitchFamily="34" charset="0"/>
                <a:ea typeface="Inter" pitchFamily="34" charset="-122"/>
                <a:cs typeface="Inter" pitchFamily="34" charset="-120"/>
              </a:rPr>
              <a:t>It counts only when the released plank reads level, under 0.5°, for one second.</a:t>
            </a:r>
            <a:endParaRPr lang="en-US" sz="1600" dirty="0"/>
          </a:p>
        </p:txBody>
      </p:sp>
      <p:sp>
        <p:nvSpPr>
          <p:cNvPr id="6" name="Beam frame"/>
          <p:cNvSpPr/>
          <p:nvPr/>
        </p:nvSpPr>
        <p:spPr>
          <a:xfrm>
            <a:off x="4983480" y="914400"/>
            <a:ext cx="6446520" cy="3931920"/>
          </a:xfrm>
          <a:prstGeom prst="roundRect">
            <a:avLst>
              <a:gd name="adj" fmla="val 3876"/>
            </a:avLst>
          </a:prstGeom>
          <a:solidFill>
            <a:srgbClr val="F9FAF7"/>
          </a:solidFill>
          <a:ln w="9525">
            <a:solidFill>
              <a:srgbClr val="DEE2DE"/>
            </a:solidFill>
            <a:prstDash val="solid"/>
          </a:ln>
        </p:spPr>
      </p:sp>
      <p:pic>
        <p:nvPicPr>
          <p:cNvPr id="7" name="Beam image" descr="The Moments lesson in the real console">    </p:cNvPr>
          <p:cNvPicPr>
            <a:picLocks noChangeAspect="1"/>
          </p:cNvPicPr>
          <p:nvPr/>
        </p:nvPicPr>
        <p:blipFill>
          <a:blip r:embed="rId1"/>
          <a:stretch>
            <a:fillRect/>
          </a:stretch>
        </p:blipFill>
        <p:spPr>
          <a:xfrm>
            <a:off x="5110480" y="1041400"/>
            <a:ext cx="6192520" cy="3677920"/>
          </a:xfrm>
          <a:prstGeom prst="rect">
            <a:avLst/>
          </a:prstGeom>
        </p:spPr>
      </p:pic>
      <p:sp>
        <p:nvSpPr>
          <p:cNvPr id="8" name="Beam caption"/>
          <p:cNvSpPr txBox="1"/>
          <p:nvPr/>
        </p:nvSpPr>
        <p:spPr>
          <a:xfrm>
            <a:off x="4983480" y="4956048"/>
            <a:ext cx="6446520" cy="274320"/>
          </a:xfrm>
          <a:prstGeom prst="rect">
            <a:avLst/>
          </a:prstGeom>
          <a:noFill/>
          <a:ln/>
        </p:spPr>
        <p:txBody>
          <a:bodyPr wrap="square" lIns="0" tIns="0" rIns="0" bIns="0" rtlCol="0" anchor="t"/>
          <a:lstStyle/>
          <a:p>
            <a:pPr indent="0" marL="0">
              <a:buNone/>
            </a:pPr>
            <a:r>
              <a:rPr lang="en-US" sz="1100" dirty="0">
                <a:solidFill>
                  <a:srgbClr val="646464"/>
                </a:solidFill>
                <a:latin typeface="Inter" pitchFamily="34" charset="0"/>
                <a:ea typeface="Inter" pitchFamily="34" charset="-122"/>
                <a:cs typeface="Inter" pitchFamily="34" charset="-120"/>
              </a:rPr>
              <a:t>Fig. 2</a:t>
            </a:r>
            <a:pPr indent="0" marL="0">
              <a:buNone/>
            </a:pPr>
            <a:r>
              <a:rPr lang="en-US" sz="1100" dirty="0">
                <a:solidFill>
                  <a:srgbClr val="646464"/>
                </a:solidFill>
                <a:latin typeface="Inter" pitchFamily="34" charset="0"/>
                <a:ea typeface="Inter" pitchFamily="34" charset="-122"/>
                <a:cs typeface="Inter" pitchFamily="34" charset="-120"/>
              </a:rPr>
              <a:t>   The Moments lesson in the real console</a:t>
            </a:r>
            <a:endParaRPr lang="en-US" sz="11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iangle frame"/>
          <p:cNvSpPr/>
          <p:nvPr/>
        </p:nvSpPr>
        <p:spPr>
          <a:xfrm>
            <a:off x="758952" y="914400"/>
            <a:ext cx="6446520" cy="3931920"/>
          </a:xfrm>
          <a:prstGeom prst="roundRect">
            <a:avLst>
              <a:gd name="adj" fmla="val 3876"/>
            </a:avLst>
          </a:prstGeom>
          <a:solidFill>
            <a:srgbClr val="F9FAF7"/>
          </a:solidFill>
          <a:ln w="9525">
            <a:solidFill>
              <a:srgbClr val="DEE2DE"/>
            </a:solidFill>
            <a:prstDash val="solid"/>
          </a:ln>
        </p:spPr>
      </p:sp>
      <p:pic>
        <p:nvPicPr>
          <p:cNvPr id="3" name="Triangle image" descr="The Pythagoras lesson, with the objectives board">    </p:cNvPr>
          <p:cNvPicPr>
            <a:picLocks noChangeAspect="1"/>
          </p:cNvPicPr>
          <p:nvPr/>
        </p:nvPicPr>
        <p:blipFill>
          <a:blip r:embed="rId1"/>
          <a:stretch>
            <a:fillRect/>
          </a:stretch>
        </p:blipFill>
        <p:spPr>
          <a:xfrm>
            <a:off x="885952" y="1041400"/>
            <a:ext cx="6192520" cy="3677920"/>
          </a:xfrm>
          <a:prstGeom prst="rect">
            <a:avLst/>
          </a:prstGeom>
        </p:spPr>
      </p:pic>
      <p:sp>
        <p:nvSpPr>
          <p:cNvPr id="4" name="Triangle caption"/>
          <p:cNvSpPr txBox="1"/>
          <p:nvPr/>
        </p:nvSpPr>
        <p:spPr>
          <a:xfrm>
            <a:off x="758952" y="4956048"/>
            <a:ext cx="6446520" cy="274320"/>
          </a:xfrm>
          <a:prstGeom prst="rect">
            <a:avLst/>
          </a:prstGeom>
          <a:noFill/>
          <a:ln/>
        </p:spPr>
        <p:txBody>
          <a:bodyPr wrap="square" lIns="0" tIns="0" rIns="0" bIns="0" rtlCol="0" anchor="t"/>
          <a:lstStyle/>
          <a:p>
            <a:pPr indent="0" marL="0">
              <a:buNone/>
            </a:pPr>
            <a:r>
              <a:rPr lang="en-US" sz="1100" dirty="0">
                <a:solidFill>
                  <a:srgbClr val="646464"/>
                </a:solidFill>
                <a:latin typeface="Inter" pitchFamily="34" charset="0"/>
                <a:ea typeface="Inter" pitchFamily="34" charset="-122"/>
                <a:cs typeface="Inter" pitchFamily="34" charset="-120"/>
              </a:rPr>
              <a:t>Fig. 3</a:t>
            </a:r>
            <a:pPr indent="0" marL="0">
              <a:buNone/>
            </a:pPr>
            <a:r>
              <a:rPr lang="en-US" sz="1100" dirty="0">
                <a:solidFill>
                  <a:srgbClr val="646464"/>
                </a:solidFill>
                <a:latin typeface="Inter" pitchFamily="34" charset="0"/>
                <a:ea typeface="Inter" pitchFamily="34" charset="-122"/>
                <a:cs typeface="Inter" pitchFamily="34" charset="-120"/>
              </a:rPr>
              <a:t>   The Pythagoras lesson, with the objectives board</a:t>
            </a:r>
            <a:endParaRPr lang="en-US" sz="1100" dirty="0"/>
          </a:p>
        </p:txBody>
      </p:sp>
      <p:sp>
        <p:nvSpPr>
          <p:cNvPr id="5" name="Eyebrow"/>
          <p:cNvSpPr txBox="1"/>
          <p:nvPr/>
        </p:nvSpPr>
        <p:spPr>
          <a:xfrm>
            <a:off x="7680960" y="1143000"/>
            <a:ext cx="374904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Objective 2  ·  Maths · Pythagoras</a:t>
            </a:r>
            <a:endParaRPr lang="en-US" sz="1200" dirty="0"/>
          </a:p>
        </p:txBody>
      </p:sp>
      <p:sp>
        <p:nvSpPr>
          <p:cNvPr id="6" name="Heading"/>
          <p:cNvSpPr txBox="1"/>
          <p:nvPr/>
        </p:nvSpPr>
        <p:spPr>
          <a:xfrm>
            <a:off x="7680960" y="1463040"/>
            <a:ext cx="3749040" cy="1097280"/>
          </a:xfrm>
          <a:prstGeom prst="rect">
            <a:avLst/>
          </a:prstGeom>
          <a:noFill/>
          <a:ln/>
        </p:spPr>
        <p:txBody>
          <a:bodyPr wrap="square" lIns="0" tIns="0" rIns="0" bIns="0" rtlCol="0" anchor="t"/>
          <a:lstStyle/>
          <a:p>
            <a:pPr indent="0" marL="0">
              <a:lnSpc>
                <a:spcPct val="105000"/>
              </a:lnSpc>
              <a:buNone/>
            </a:pPr>
            <a:r>
              <a:rPr lang="en-US" sz="3200" spc="-64" kern="0" dirty="0">
                <a:solidFill>
                  <a:srgbClr val="2C2C2C"/>
                </a:solidFill>
                <a:latin typeface="Inter" pitchFamily="34" charset="0"/>
                <a:ea typeface="Inter" pitchFamily="34" charset="-122"/>
                <a:cs typeface="Inter" pitchFamily="34" charset="-120"/>
              </a:rPr>
              <a:t>Build the right triangle</a:t>
            </a:r>
            <a:endParaRPr lang="en-US" sz="3200" dirty="0"/>
          </a:p>
        </p:txBody>
      </p:sp>
      <p:sp>
        <p:nvSpPr>
          <p:cNvPr id="7" name="Body"/>
          <p:cNvSpPr txBox="1"/>
          <p:nvPr/>
        </p:nvSpPr>
        <p:spPr>
          <a:xfrm>
            <a:off x="7680960" y="2606040"/>
            <a:ext cx="3749040" cy="1554480"/>
          </a:xfrm>
          <a:prstGeom prst="rect">
            <a:avLst/>
          </a:prstGeom>
          <a:noFill/>
          <a:ln/>
        </p:spPr>
        <p:txBody>
          <a:bodyPr wrap="square" lIns="0" tIns="0" rIns="0" bIns="0" rtlCol="0" anchor="t"/>
          <a:lstStyle/>
          <a:p>
            <a:pPr indent="0" marL="0">
              <a:lnSpc>
                <a:spcPct val="130000"/>
              </a:lnSpc>
              <a:buNone/>
            </a:pPr>
            <a:r>
              <a:rPr lang="en-US" sz="1600" dirty="0">
                <a:solidFill>
                  <a:srgbClr val="646464"/>
                </a:solidFill>
                <a:latin typeface="Inter" pitchFamily="34" charset="0"/>
                <a:ea typeface="Inter" pitchFamily="34" charset="-122"/>
                <a:cs typeface="Inter" pitchFamily="34" charset="-120"/>
              </a:rPr>
              <a:t>Does 9 + 16 make 25? Pip and Nova push the square tiles onto the sides of a floor triangle, and the slots light up when the tiles land.</a:t>
            </a:r>
            <a:endParaRPr lang="en-US" sz="1600" dirty="0"/>
          </a:p>
        </p:txBody>
      </p:sp>
      <p:sp>
        <p:nvSpPr>
          <p:cNvPr id="8" name="Note"/>
          <p:cNvSpPr txBox="1"/>
          <p:nvPr/>
        </p:nvSpPr>
        <p:spPr>
          <a:xfrm>
            <a:off x="7680960" y="4251960"/>
            <a:ext cx="3749040" cy="914400"/>
          </a:xfrm>
          <a:prstGeom prst="rect">
            <a:avLst/>
          </a:prstGeom>
          <a:noFill/>
          <a:ln/>
        </p:spPr>
        <p:txBody>
          <a:bodyPr wrap="square" lIns="0" tIns="0" rIns="0" bIns="0" rtlCol="0" anchor="t"/>
          <a:lstStyle/>
          <a:p>
            <a:pPr indent="0" marL="0">
              <a:lnSpc>
                <a:spcPct val="130000"/>
              </a:lnSpc>
              <a:buNone/>
            </a:pPr>
            <a:r>
              <a:rPr lang="en-US" sz="1600" dirty="0">
                <a:solidFill>
                  <a:srgbClr val="2C2C2C"/>
                </a:solidFill>
                <a:latin typeface="Inter" pitchFamily="34" charset="0"/>
                <a:ea typeface="Inter" pitchFamily="34" charset="-122"/>
                <a:cs typeface="Inter" pitchFamily="34" charset="-120"/>
              </a:rPr>
              <a:t>Each objective has an XP bar that fills only when the simulator measures the goal met.</a:t>
            </a:r>
            <a:endParaRPr lang="en-US" sz="16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758952" y="1143000"/>
            <a:ext cx="374904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Objective 3  ·  Mission · Free play</a:t>
            </a:r>
            <a:endParaRPr lang="en-US" sz="1200" dirty="0"/>
          </a:p>
        </p:txBody>
      </p:sp>
      <p:sp>
        <p:nvSpPr>
          <p:cNvPr id="3" name="Heading"/>
          <p:cNvSpPr txBox="1"/>
          <p:nvPr/>
        </p:nvSpPr>
        <p:spPr>
          <a:xfrm>
            <a:off x="758952" y="1463040"/>
            <a:ext cx="3749040" cy="1097280"/>
          </a:xfrm>
          <a:prstGeom prst="rect">
            <a:avLst/>
          </a:prstGeom>
          <a:noFill/>
          <a:ln/>
        </p:spPr>
        <p:txBody>
          <a:bodyPr wrap="square" lIns="0" tIns="0" rIns="0" bIns="0" rtlCol="0" anchor="t"/>
          <a:lstStyle/>
          <a:p>
            <a:pPr indent="0" marL="0">
              <a:lnSpc>
                <a:spcPct val="105000"/>
              </a:lnSpc>
              <a:buNone/>
            </a:pPr>
            <a:r>
              <a:rPr lang="en-US" sz="3200" spc="-64" kern="0" dirty="0">
                <a:solidFill>
                  <a:srgbClr val="2C2C2C"/>
                </a:solidFill>
                <a:latin typeface="Inter" pitchFamily="34" charset="0"/>
                <a:ea typeface="Inter" pitchFamily="34" charset="-122"/>
                <a:cs typeface="Inter" pitchFamily="34" charset="-120"/>
              </a:rPr>
              <a:t>Rescue Pip, then let them play</a:t>
            </a:r>
            <a:endParaRPr lang="en-US" sz="3200" dirty="0"/>
          </a:p>
        </p:txBody>
      </p:sp>
      <p:sp>
        <p:nvSpPr>
          <p:cNvPr id="4" name="Body"/>
          <p:cNvSpPr txBox="1"/>
          <p:nvPr/>
        </p:nvSpPr>
        <p:spPr>
          <a:xfrm>
            <a:off x="758952" y="2606040"/>
            <a:ext cx="3749040" cy="1554480"/>
          </a:xfrm>
          <a:prstGeom prst="rect">
            <a:avLst/>
          </a:prstGeom>
          <a:noFill/>
          <a:ln/>
        </p:spPr>
        <p:txBody>
          <a:bodyPr wrap="square" lIns="0" tIns="0" rIns="0" bIns="0" rtlCol="0" anchor="t"/>
          <a:lstStyle/>
          <a:p>
            <a:pPr indent="0" marL="0">
              <a:lnSpc>
                <a:spcPct val="130000"/>
              </a:lnSpc>
              <a:buNone/>
            </a:pPr>
            <a:r>
              <a:rPr lang="en-US" sz="1600" dirty="0">
                <a:solidFill>
                  <a:srgbClr val="646464"/>
                </a:solidFill>
                <a:latin typeface="Inter" pitchFamily="34" charset="0"/>
                <a:ea typeface="Inter" pitchFamily="34" charset="-122"/>
                <a:cs typeface="Inter" pitchFamily="34" charset="-120"/>
              </a:rPr>
              <a:t>Guide the robots to bring Pip home. In free play they charge, really collide in MuJoCo, and the one that falls gets back up with its own get-up policy.</a:t>
            </a:r>
            <a:endParaRPr lang="en-US" sz="1600" dirty="0"/>
          </a:p>
        </p:txBody>
      </p:sp>
      <p:sp>
        <p:nvSpPr>
          <p:cNvPr id="5" name="Note"/>
          <p:cNvSpPr txBox="1"/>
          <p:nvPr/>
        </p:nvSpPr>
        <p:spPr>
          <a:xfrm>
            <a:off x="758952" y="4251960"/>
            <a:ext cx="3749040" cy="914400"/>
          </a:xfrm>
          <a:prstGeom prst="rect">
            <a:avLst/>
          </a:prstGeom>
          <a:noFill/>
          <a:ln/>
        </p:spPr>
        <p:txBody>
          <a:bodyPr wrap="square" lIns="0" tIns="0" rIns="0" bIns="0" rtlCol="0" anchor="t"/>
          <a:lstStyle/>
          <a:p>
            <a:pPr indent="0" marL="0">
              <a:lnSpc>
                <a:spcPct val="130000"/>
              </a:lnSpc>
              <a:buNone/>
            </a:pPr>
            <a:r>
              <a:rPr lang="en-US" sz="1600" dirty="0">
                <a:solidFill>
                  <a:srgbClr val="2C2C2C"/>
                </a:solidFill>
                <a:latin typeface="Inter" pitchFamily="34" charset="0"/>
                <a:ea typeface="Inter" pitchFamily="34" charset="-122"/>
                <a:cs typeface="Inter" pitchFamily="34" charset="-120"/>
              </a:rPr>
              <a:t>The knockdown is a scripted shove. The recovery is the real policy.</a:t>
            </a:r>
            <a:endParaRPr lang="en-US" sz="1600" dirty="0"/>
          </a:p>
        </p:txBody>
      </p:sp>
      <p:sp>
        <p:nvSpPr>
          <p:cNvPr id="6" name="Fight frame"/>
          <p:cNvSpPr/>
          <p:nvPr/>
        </p:nvSpPr>
        <p:spPr>
          <a:xfrm>
            <a:off x="4983480" y="914400"/>
            <a:ext cx="6446520" cy="3931920"/>
          </a:xfrm>
          <a:prstGeom prst="roundRect">
            <a:avLst>
              <a:gd name="adj" fmla="val 3876"/>
            </a:avLst>
          </a:prstGeom>
          <a:solidFill>
            <a:srgbClr val="F9FAF7"/>
          </a:solidFill>
          <a:ln w="9525">
            <a:solidFill>
              <a:srgbClr val="DEE2DE"/>
            </a:solidFill>
            <a:prstDash val="solid"/>
          </a:ln>
        </p:spPr>
      </p:sp>
      <p:pic>
        <p:nvPicPr>
          <p:cNvPr id="7" name="Fight image" descr="Free play: a clash, then back on its feet">    </p:cNvPr>
          <p:cNvPicPr>
            <a:picLocks noChangeAspect="1"/>
          </p:cNvPicPr>
          <p:nvPr/>
        </p:nvPicPr>
        <p:blipFill>
          <a:blip r:embed="rId1"/>
          <a:stretch>
            <a:fillRect/>
          </a:stretch>
        </p:blipFill>
        <p:spPr>
          <a:xfrm>
            <a:off x="5110480" y="1041400"/>
            <a:ext cx="6192520" cy="3677920"/>
          </a:xfrm>
          <a:prstGeom prst="rect">
            <a:avLst/>
          </a:prstGeom>
        </p:spPr>
      </p:pic>
      <p:sp>
        <p:nvSpPr>
          <p:cNvPr id="8" name="Fight caption"/>
          <p:cNvSpPr txBox="1"/>
          <p:nvPr/>
        </p:nvSpPr>
        <p:spPr>
          <a:xfrm>
            <a:off x="4983480" y="4956048"/>
            <a:ext cx="6446520" cy="274320"/>
          </a:xfrm>
          <a:prstGeom prst="rect">
            <a:avLst/>
          </a:prstGeom>
          <a:noFill/>
          <a:ln/>
        </p:spPr>
        <p:txBody>
          <a:bodyPr wrap="square" lIns="0" tIns="0" rIns="0" bIns="0" rtlCol="0" anchor="t"/>
          <a:lstStyle/>
          <a:p>
            <a:pPr indent="0" marL="0">
              <a:buNone/>
            </a:pPr>
            <a:r>
              <a:rPr lang="en-US" sz="1100" dirty="0">
                <a:solidFill>
                  <a:srgbClr val="646464"/>
                </a:solidFill>
                <a:latin typeface="Inter" pitchFamily="34" charset="0"/>
                <a:ea typeface="Inter" pitchFamily="34" charset="-122"/>
                <a:cs typeface="Inter" pitchFamily="34" charset="-120"/>
              </a:rPr>
              <a:t>Fig. 4</a:t>
            </a:r>
            <a:pPr indent="0" marL="0">
              <a:buNone/>
            </a:pPr>
            <a:r>
              <a:rPr lang="en-US" sz="1100" dirty="0">
                <a:solidFill>
                  <a:srgbClr val="646464"/>
                </a:solidFill>
                <a:latin typeface="Inter" pitchFamily="34" charset="0"/>
                <a:ea typeface="Inter" pitchFamily="34" charset="-122"/>
                <a:cs typeface="Inter" pitchFamily="34" charset="-120"/>
              </a:rPr>
              <a:t>   Free play: a clash, then back on its feet</a:t>
            </a:r>
            <a:endParaRPr lang="en-US" sz="11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58952" y="548640"/>
            <a:ext cx="10607040" cy="1371600"/>
          </a:xfrm>
          <a:prstGeom prst="rect">
            <a:avLst/>
          </a:prstGeom>
          <a:noFill/>
          <a:ln/>
        </p:spPr>
        <p:txBody>
          <a:bodyPr wrap="square" lIns="0" tIns="0" rIns="0" bIns="0" rtlCol="0" anchor="t"/>
          <a:lstStyle/>
          <a:p>
            <a:pPr algn="l" indent="0" marL="0">
              <a:lnSpc>
                <a:spcPct val="105000"/>
              </a:lnSpc>
              <a:buNone/>
            </a:pPr>
            <a:r>
              <a:rPr lang="en-US" sz="3600" spc="-72" kern="0" dirty="0">
                <a:solidFill>
                  <a:srgbClr val="2C2C2C"/>
                </a:solidFill>
              </a:rPr>
              <a:t>Say it out loud. </a:t>
            </a:r>
            <a:pPr algn="l" indent="0" marL="0">
              <a:lnSpc>
                <a:spcPct val="105000"/>
              </a:lnSpc>
              <a:buNone/>
            </a:pPr>
            <a:r>
              <a:rPr lang="en-US" sz="3600" spc="-72" kern="0" dirty="0">
                <a:solidFill>
                  <a:srgbClr val="B4B8B4"/>
                </a:solidFill>
              </a:rPr>
              <a:t>Claude plans bounded actions,</a:t>
            </a:r>
            <a:pPr algn="l" indent="0" marL="0">
              <a:lnSpc>
                <a:spcPct val="105000"/>
              </a:lnSpc>
              <a:buNone/>
            </a:pPr>
            <a:r>
              <a:rPr lang="en-US" sz="3600" spc="-72" kern="0" dirty="0">
                <a:solidFill>
                  <a:srgbClr val="2C2C2C"/>
                </a:solidFill>
              </a:rPr>
              <a:t> and the simulator does the science</a:t>
            </a:r>
            <a:endParaRPr lang="en-US" sz="3600" dirty="0"/>
          </a:p>
        </p:txBody>
      </p:sp>
      <p:sp>
        <p:nvSpPr>
          <p:cNvPr id="3" name="Step 1 card"/>
          <p:cNvSpPr/>
          <p:nvPr/>
        </p:nvSpPr>
        <p:spPr>
          <a:xfrm>
            <a:off x="758952" y="2103120"/>
            <a:ext cx="1947672" cy="2743200"/>
          </a:xfrm>
          <a:prstGeom prst="roundRect">
            <a:avLst>
              <a:gd name="adj" fmla="val 5216"/>
            </a:avLst>
          </a:prstGeom>
          <a:solidFill>
            <a:srgbClr val="F9FAF7"/>
          </a:solidFill>
          <a:ln w="9525">
            <a:solidFill>
              <a:srgbClr val="DEE2DE"/>
            </a:solidFill>
            <a:prstDash val="solid"/>
          </a:ln>
        </p:spPr>
      </p:sp>
      <p:sp>
        <p:nvSpPr>
          <p:cNvPr id="4" name="Step 1 number"/>
          <p:cNvSpPr txBox="1"/>
          <p:nvPr/>
        </p:nvSpPr>
        <p:spPr>
          <a:xfrm>
            <a:off x="960120" y="2304288"/>
            <a:ext cx="91440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01</a:t>
            </a:r>
            <a:endParaRPr lang="en-US" sz="1200" dirty="0"/>
          </a:p>
        </p:txBody>
      </p:sp>
      <p:sp>
        <p:nvSpPr>
          <p:cNvPr id="5" name="Step 1 name"/>
          <p:cNvSpPr txBox="1"/>
          <p:nvPr/>
        </p:nvSpPr>
        <p:spPr>
          <a:xfrm>
            <a:off x="960120" y="2651760"/>
            <a:ext cx="1581912" cy="685800"/>
          </a:xfrm>
          <a:prstGeom prst="rect">
            <a:avLst/>
          </a:prstGeom>
          <a:noFill/>
          <a:ln/>
        </p:spPr>
        <p:txBody>
          <a:bodyPr wrap="square" lIns="0" tIns="0" rIns="0" bIns="0" rtlCol="0" anchor="t"/>
          <a:lstStyle/>
          <a:p>
            <a:pPr indent="0" marL="0">
              <a:lnSpc>
                <a:spcPct val="105000"/>
              </a:lnSpc>
              <a:buNone/>
            </a:pPr>
            <a:r>
              <a:rPr lang="en-US" sz="1800" spc="-36" kern="0" dirty="0">
                <a:solidFill>
                  <a:srgbClr val="2C2C2C"/>
                </a:solidFill>
                <a:latin typeface="Inter" pitchFamily="34" charset="0"/>
                <a:ea typeface="Inter" pitchFamily="34" charset="-122"/>
                <a:cs typeface="Inter" pitchFamily="34" charset="-120"/>
              </a:rPr>
              <a:t>Hold to talk</a:t>
            </a:r>
            <a:endParaRPr lang="en-US" sz="1800" dirty="0"/>
          </a:p>
        </p:txBody>
      </p:sp>
      <p:sp>
        <p:nvSpPr>
          <p:cNvPr id="6" name="Step 1 text"/>
          <p:cNvSpPr txBox="1"/>
          <p:nvPr/>
        </p:nvSpPr>
        <p:spPr>
          <a:xfrm>
            <a:off x="960120" y="3429000"/>
            <a:ext cx="1581912" cy="1325880"/>
          </a:xfrm>
          <a:prstGeom prst="rect">
            <a:avLst/>
          </a:prstGeom>
          <a:noFill/>
          <a:ln/>
        </p:spPr>
        <p:txBody>
          <a:bodyPr wrap="square" lIns="0" tIns="0" rIns="0" bIns="0" rtlCol="0" anchor="t"/>
          <a:lstStyle/>
          <a:p>
            <a:pPr indent="0" marL="0">
              <a:lnSpc>
                <a:spcPct val="120000"/>
              </a:lnSpc>
              <a:buNone/>
            </a:pPr>
            <a:r>
              <a:rPr lang="en-US" sz="1400" dirty="0">
                <a:solidFill>
                  <a:srgbClr val="646464"/>
                </a:solidFill>
                <a:latin typeface="Inter" pitchFamily="34" charset="0"/>
                <a:ea typeface="Inter" pitchFamily="34" charset="-122"/>
                <a:cs typeface="Inter" pitchFamily="34" charset="-120"/>
              </a:rPr>
              <a:t>Space or the button. Typed requests take the same path.</a:t>
            </a:r>
            <a:endParaRPr lang="en-US" sz="1400" dirty="0"/>
          </a:p>
        </p:txBody>
      </p:sp>
      <p:pic>
        <p:nvPicPr>
          <p:cNvPr id="7" name="Step 1 arrow" descr="preencoded.png">    </p:cNvPr>
          <p:cNvPicPr>
            <a:picLocks noChangeAspect="1"/>
          </p:cNvPicPr>
          <p:nvPr/>
        </p:nvPicPr>
        <p:blipFill>
          <a:blip r:embed="rId1"/>
          <a:stretch>
            <a:fillRect/>
          </a:stretch>
        </p:blipFill>
        <p:spPr>
          <a:xfrm>
            <a:off x="2766060" y="3401568"/>
            <a:ext cx="109728" cy="146304"/>
          </a:xfrm>
          <a:prstGeom prst="rect">
            <a:avLst/>
          </a:prstGeom>
        </p:spPr>
      </p:pic>
      <p:sp>
        <p:nvSpPr>
          <p:cNvPr id="8" name="Step 2 card"/>
          <p:cNvSpPr/>
          <p:nvPr/>
        </p:nvSpPr>
        <p:spPr>
          <a:xfrm>
            <a:off x="2935224" y="2103120"/>
            <a:ext cx="1947672" cy="2743200"/>
          </a:xfrm>
          <a:prstGeom prst="roundRect">
            <a:avLst>
              <a:gd name="adj" fmla="val 5216"/>
            </a:avLst>
          </a:prstGeom>
          <a:solidFill>
            <a:srgbClr val="F9FAF7"/>
          </a:solidFill>
          <a:ln w="9525">
            <a:solidFill>
              <a:srgbClr val="DEE2DE"/>
            </a:solidFill>
            <a:prstDash val="solid"/>
          </a:ln>
        </p:spPr>
      </p:sp>
      <p:sp>
        <p:nvSpPr>
          <p:cNvPr id="9" name="Step 2 number"/>
          <p:cNvSpPr txBox="1"/>
          <p:nvPr/>
        </p:nvSpPr>
        <p:spPr>
          <a:xfrm>
            <a:off x="3136392" y="2304288"/>
            <a:ext cx="91440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02</a:t>
            </a:r>
            <a:endParaRPr lang="en-US" sz="1200" dirty="0"/>
          </a:p>
        </p:txBody>
      </p:sp>
      <p:sp>
        <p:nvSpPr>
          <p:cNvPr id="10" name="Step 2 name"/>
          <p:cNvSpPr txBox="1"/>
          <p:nvPr/>
        </p:nvSpPr>
        <p:spPr>
          <a:xfrm>
            <a:off x="3136392" y="2651760"/>
            <a:ext cx="1581912" cy="685800"/>
          </a:xfrm>
          <a:prstGeom prst="rect">
            <a:avLst/>
          </a:prstGeom>
          <a:noFill/>
          <a:ln/>
        </p:spPr>
        <p:txBody>
          <a:bodyPr wrap="square" lIns="0" tIns="0" rIns="0" bIns="0" rtlCol="0" anchor="t"/>
          <a:lstStyle/>
          <a:p>
            <a:pPr indent="0" marL="0">
              <a:lnSpc>
                <a:spcPct val="105000"/>
              </a:lnSpc>
              <a:buNone/>
            </a:pPr>
            <a:r>
              <a:rPr lang="en-US" sz="1800" spc="-36" kern="0" dirty="0">
                <a:solidFill>
                  <a:srgbClr val="2C2C2C"/>
                </a:solidFill>
                <a:latin typeface="Inter" pitchFamily="34" charset="0"/>
                <a:ea typeface="Inter" pitchFamily="34" charset="-122"/>
                <a:cs typeface="Inter" pitchFamily="34" charset="-120"/>
              </a:rPr>
              <a:t>ElevenLabs</a:t>
            </a:r>
            <a:endParaRPr lang="en-US" sz="1800" dirty="0"/>
          </a:p>
        </p:txBody>
      </p:sp>
      <p:sp>
        <p:nvSpPr>
          <p:cNvPr id="11" name="Step 2 text"/>
          <p:cNvSpPr txBox="1"/>
          <p:nvPr/>
        </p:nvSpPr>
        <p:spPr>
          <a:xfrm>
            <a:off x="3136392" y="3429000"/>
            <a:ext cx="1581912" cy="1325880"/>
          </a:xfrm>
          <a:prstGeom prst="rect">
            <a:avLst/>
          </a:prstGeom>
          <a:noFill/>
          <a:ln/>
        </p:spPr>
        <p:txBody>
          <a:bodyPr wrap="square" lIns="0" tIns="0" rIns="0" bIns="0" rtlCol="0" anchor="t"/>
          <a:lstStyle/>
          <a:p>
            <a:pPr indent="0" marL="0">
              <a:lnSpc>
                <a:spcPct val="120000"/>
              </a:lnSpc>
              <a:buNone/>
            </a:pPr>
            <a:r>
              <a:rPr lang="en-US" sz="1400" dirty="0">
                <a:solidFill>
                  <a:srgbClr val="646464"/>
                </a:solidFill>
                <a:latin typeface="Inter" pitchFamily="34" charset="0"/>
                <a:ea typeface="Inter" pitchFamily="34" charset="-122"/>
                <a:cs typeface="Inter" pitchFamily="34" charset="-120"/>
              </a:rPr>
              <a:t>Transcribes the learner's voice on the server.</a:t>
            </a:r>
            <a:endParaRPr lang="en-US" sz="1400" dirty="0"/>
          </a:p>
        </p:txBody>
      </p:sp>
      <p:pic>
        <p:nvPicPr>
          <p:cNvPr id="12" name="Step 2 arrow" descr="preencoded.png">    </p:cNvPr>
          <p:cNvPicPr>
            <a:picLocks noChangeAspect="1"/>
          </p:cNvPicPr>
          <p:nvPr/>
        </p:nvPicPr>
        <p:blipFill>
          <a:blip r:embed="rId2"/>
          <a:stretch>
            <a:fillRect/>
          </a:stretch>
        </p:blipFill>
        <p:spPr>
          <a:xfrm>
            <a:off x="4942332" y="3401568"/>
            <a:ext cx="109728" cy="146304"/>
          </a:xfrm>
          <a:prstGeom prst="rect">
            <a:avLst/>
          </a:prstGeom>
        </p:spPr>
      </p:pic>
      <p:sp>
        <p:nvSpPr>
          <p:cNvPr id="13" name="Step 3 card"/>
          <p:cNvSpPr/>
          <p:nvPr/>
        </p:nvSpPr>
        <p:spPr>
          <a:xfrm>
            <a:off x="5111496" y="2103120"/>
            <a:ext cx="1947672" cy="2743200"/>
          </a:xfrm>
          <a:prstGeom prst="roundRect">
            <a:avLst>
              <a:gd name="adj" fmla="val 5216"/>
            </a:avLst>
          </a:prstGeom>
          <a:solidFill>
            <a:srgbClr val="F9FAF7"/>
          </a:solidFill>
          <a:ln w="9525">
            <a:solidFill>
              <a:srgbClr val="DEE2DE"/>
            </a:solidFill>
            <a:prstDash val="solid"/>
          </a:ln>
        </p:spPr>
      </p:sp>
      <p:sp>
        <p:nvSpPr>
          <p:cNvPr id="14" name="Step 3 number"/>
          <p:cNvSpPr txBox="1"/>
          <p:nvPr/>
        </p:nvSpPr>
        <p:spPr>
          <a:xfrm>
            <a:off x="5312664" y="2304288"/>
            <a:ext cx="91440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03</a:t>
            </a:r>
            <a:endParaRPr lang="en-US" sz="1200" dirty="0"/>
          </a:p>
        </p:txBody>
      </p:sp>
      <p:sp>
        <p:nvSpPr>
          <p:cNvPr id="15" name="Step 3 name"/>
          <p:cNvSpPr txBox="1"/>
          <p:nvPr/>
        </p:nvSpPr>
        <p:spPr>
          <a:xfrm>
            <a:off x="5312664" y="2651760"/>
            <a:ext cx="1581912" cy="685800"/>
          </a:xfrm>
          <a:prstGeom prst="rect">
            <a:avLst/>
          </a:prstGeom>
          <a:noFill/>
          <a:ln/>
        </p:spPr>
        <p:txBody>
          <a:bodyPr wrap="square" lIns="0" tIns="0" rIns="0" bIns="0" rtlCol="0" anchor="t"/>
          <a:lstStyle/>
          <a:p>
            <a:pPr indent="0" marL="0">
              <a:lnSpc>
                <a:spcPct val="105000"/>
              </a:lnSpc>
              <a:buNone/>
            </a:pPr>
            <a:r>
              <a:rPr lang="en-US" sz="1800" spc="-36" kern="0" dirty="0">
                <a:solidFill>
                  <a:srgbClr val="2C2C2C"/>
                </a:solidFill>
                <a:latin typeface="Inter" pitchFamily="34" charset="0"/>
                <a:ea typeface="Inter" pitchFamily="34" charset="-122"/>
                <a:cs typeface="Inter" pitchFamily="34" charset="-120"/>
              </a:rPr>
              <a:t>Claude on Bedrock</a:t>
            </a:r>
            <a:endParaRPr lang="en-US" sz="1800" dirty="0"/>
          </a:p>
        </p:txBody>
      </p:sp>
      <p:sp>
        <p:nvSpPr>
          <p:cNvPr id="16" name="Step 3 text"/>
          <p:cNvSpPr txBox="1"/>
          <p:nvPr/>
        </p:nvSpPr>
        <p:spPr>
          <a:xfrm>
            <a:off x="5312664" y="3429000"/>
            <a:ext cx="1581912" cy="1325880"/>
          </a:xfrm>
          <a:prstGeom prst="rect">
            <a:avLst/>
          </a:prstGeom>
          <a:noFill/>
          <a:ln/>
        </p:spPr>
        <p:txBody>
          <a:bodyPr wrap="square" lIns="0" tIns="0" rIns="0" bIns="0" rtlCol="0" anchor="t"/>
          <a:lstStyle/>
          <a:p>
            <a:pPr indent="0" marL="0">
              <a:lnSpc>
                <a:spcPct val="120000"/>
              </a:lnSpc>
              <a:buNone/>
            </a:pPr>
            <a:r>
              <a:rPr lang="en-US" sz="1400" dirty="0">
                <a:solidFill>
                  <a:srgbClr val="646464"/>
                </a:solidFill>
                <a:latin typeface="Inter" pitchFamily="34" charset="0"/>
                <a:ea typeface="Inter" pitchFamily="34" charset="-122"/>
                <a:cs typeface="Inter" pitchFamily="34" charset="-120"/>
              </a:rPr>
              <a:t>Picks actions for Pip, Nova or both, checked by Zod.</a:t>
            </a:r>
            <a:endParaRPr lang="en-US" sz="1400" dirty="0"/>
          </a:p>
        </p:txBody>
      </p:sp>
      <p:pic>
        <p:nvPicPr>
          <p:cNvPr id="17" name="Step 3 arrow" descr="preencoded.png">    </p:cNvPr>
          <p:cNvPicPr>
            <a:picLocks noChangeAspect="1"/>
          </p:cNvPicPr>
          <p:nvPr/>
        </p:nvPicPr>
        <p:blipFill>
          <a:blip r:embed="rId3"/>
          <a:stretch>
            <a:fillRect/>
          </a:stretch>
        </p:blipFill>
        <p:spPr>
          <a:xfrm>
            <a:off x="7118604" y="3401568"/>
            <a:ext cx="109728" cy="146304"/>
          </a:xfrm>
          <a:prstGeom prst="rect">
            <a:avLst/>
          </a:prstGeom>
        </p:spPr>
      </p:pic>
      <p:sp>
        <p:nvSpPr>
          <p:cNvPr id="18" name="Step 4 card"/>
          <p:cNvSpPr/>
          <p:nvPr/>
        </p:nvSpPr>
        <p:spPr>
          <a:xfrm>
            <a:off x="7287768" y="2103120"/>
            <a:ext cx="1947672" cy="2743200"/>
          </a:xfrm>
          <a:prstGeom prst="roundRect">
            <a:avLst>
              <a:gd name="adj" fmla="val 5216"/>
            </a:avLst>
          </a:prstGeom>
          <a:solidFill>
            <a:srgbClr val="F9FAF7"/>
          </a:solidFill>
          <a:ln w="9525">
            <a:solidFill>
              <a:srgbClr val="DEE2DE"/>
            </a:solidFill>
            <a:prstDash val="solid"/>
          </a:ln>
        </p:spPr>
      </p:sp>
      <p:sp>
        <p:nvSpPr>
          <p:cNvPr id="19" name="Step 4 number"/>
          <p:cNvSpPr txBox="1"/>
          <p:nvPr/>
        </p:nvSpPr>
        <p:spPr>
          <a:xfrm>
            <a:off x="7488936" y="2304288"/>
            <a:ext cx="91440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04</a:t>
            </a:r>
            <a:endParaRPr lang="en-US" sz="1200" dirty="0"/>
          </a:p>
        </p:txBody>
      </p:sp>
      <p:sp>
        <p:nvSpPr>
          <p:cNvPr id="20" name="Step 4 name"/>
          <p:cNvSpPr txBox="1"/>
          <p:nvPr/>
        </p:nvSpPr>
        <p:spPr>
          <a:xfrm>
            <a:off x="7488936" y="2651760"/>
            <a:ext cx="1581912" cy="685800"/>
          </a:xfrm>
          <a:prstGeom prst="rect">
            <a:avLst/>
          </a:prstGeom>
          <a:noFill/>
          <a:ln/>
        </p:spPr>
        <p:txBody>
          <a:bodyPr wrap="square" lIns="0" tIns="0" rIns="0" bIns="0" rtlCol="0" anchor="t"/>
          <a:lstStyle/>
          <a:p>
            <a:pPr indent="0" marL="0">
              <a:lnSpc>
                <a:spcPct val="105000"/>
              </a:lnSpc>
              <a:buNone/>
            </a:pPr>
            <a:r>
              <a:rPr lang="en-US" sz="1800" spc="-36" kern="0" dirty="0">
                <a:solidFill>
                  <a:srgbClr val="2C2C2C"/>
                </a:solidFill>
                <a:latin typeface="Inter" pitchFamily="34" charset="0"/>
                <a:ea typeface="Inter" pitchFamily="34" charset="-122"/>
                <a:cs typeface="Inter" pitchFamily="34" charset="-120"/>
              </a:rPr>
              <a:t>MuJoCo runs it</a:t>
            </a:r>
            <a:endParaRPr lang="en-US" sz="1800" dirty="0"/>
          </a:p>
        </p:txBody>
      </p:sp>
      <p:sp>
        <p:nvSpPr>
          <p:cNvPr id="21" name="Step 4 text"/>
          <p:cNvSpPr txBox="1"/>
          <p:nvPr/>
        </p:nvSpPr>
        <p:spPr>
          <a:xfrm>
            <a:off x="7488936" y="3429000"/>
            <a:ext cx="1581912" cy="1325880"/>
          </a:xfrm>
          <a:prstGeom prst="rect">
            <a:avLst/>
          </a:prstGeom>
          <a:noFill/>
          <a:ln/>
        </p:spPr>
        <p:txBody>
          <a:bodyPr wrap="square" lIns="0" tIns="0" rIns="0" bIns="0" rtlCol="0" anchor="t"/>
          <a:lstStyle/>
          <a:p>
            <a:pPr indent="0" marL="0">
              <a:lnSpc>
                <a:spcPct val="120000"/>
              </a:lnSpc>
              <a:buNone/>
            </a:pPr>
            <a:r>
              <a:rPr lang="en-US" sz="1400" dirty="0">
                <a:solidFill>
                  <a:srgbClr val="646464"/>
                </a:solidFill>
                <a:latin typeface="Inter" pitchFamily="34" charset="0"/>
                <a:ea typeface="Inter" pitchFamily="34" charset="-122"/>
                <a:cs typeface="Inter" pitchFamily="34" charset="-120"/>
              </a:rPr>
              <a:t>Policies move the robots; the runner measures the result.</a:t>
            </a:r>
            <a:endParaRPr lang="en-US" sz="1400" dirty="0"/>
          </a:p>
        </p:txBody>
      </p:sp>
      <p:pic>
        <p:nvPicPr>
          <p:cNvPr id="22" name="Step 4 arrow" descr="preencoded.png">    </p:cNvPr>
          <p:cNvPicPr>
            <a:picLocks noChangeAspect="1"/>
          </p:cNvPicPr>
          <p:nvPr/>
        </p:nvPicPr>
        <p:blipFill>
          <a:blip r:embed="rId4"/>
          <a:stretch>
            <a:fillRect/>
          </a:stretch>
        </p:blipFill>
        <p:spPr>
          <a:xfrm>
            <a:off x="9294876" y="3401568"/>
            <a:ext cx="109728" cy="146304"/>
          </a:xfrm>
          <a:prstGeom prst="rect">
            <a:avLst/>
          </a:prstGeom>
        </p:spPr>
      </p:pic>
      <p:sp>
        <p:nvSpPr>
          <p:cNvPr id="23" name="Step 5 card"/>
          <p:cNvSpPr/>
          <p:nvPr/>
        </p:nvSpPr>
        <p:spPr>
          <a:xfrm>
            <a:off x="9464040" y="2103120"/>
            <a:ext cx="1947672" cy="2743200"/>
          </a:xfrm>
          <a:prstGeom prst="roundRect">
            <a:avLst>
              <a:gd name="adj" fmla="val 5216"/>
            </a:avLst>
          </a:prstGeom>
          <a:solidFill>
            <a:srgbClr val="F9FAF7"/>
          </a:solidFill>
          <a:ln w="9525">
            <a:solidFill>
              <a:srgbClr val="DEE2DE"/>
            </a:solidFill>
            <a:prstDash val="solid"/>
          </a:ln>
        </p:spPr>
      </p:sp>
      <p:sp>
        <p:nvSpPr>
          <p:cNvPr id="24" name="Step 5 number"/>
          <p:cNvSpPr txBox="1"/>
          <p:nvPr/>
        </p:nvSpPr>
        <p:spPr>
          <a:xfrm>
            <a:off x="9665208" y="2304288"/>
            <a:ext cx="91440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05</a:t>
            </a:r>
            <a:endParaRPr lang="en-US" sz="1200" dirty="0"/>
          </a:p>
        </p:txBody>
      </p:sp>
      <p:sp>
        <p:nvSpPr>
          <p:cNvPr id="25" name="Step 5 name"/>
          <p:cNvSpPr txBox="1"/>
          <p:nvPr/>
        </p:nvSpPr>
        <p:spPr>
          <a:xfrm>
            <a:off x="9665208" y="2651760"/>
            <a:ext cx="1581912" cy="685800"/>
          </a:xfrm>
          <a:prstGeom prst="rect">
            <a:avLst/>
          </a:prstGeom>
          <a:noFill/>
          <a:ln/>
        </p:spPr>
        <p:txBody>
          <a:bodyPr wrap="square" lIns="0" tIns="0" rIns="0" bIns="0" rtlCol="0" anchor="t"/>
          <a:lstStyle/>
          <a:p>
            <a:pPr indent="0" marL="0">
              <a:lnSpc>
                <a:spcPct val="105000"/>
              </a:lnSpc>
              <a:buNone/>
            </a:pPr>
            <a:r>
              <a:rPr lang="en-US" sz="1800" spc="-36" kern="0" dirty="0">
                <a:solidFill>
                  <a:srgbClr val="2C2C2C"/>
                </a:solidFill>
                <a:latin typeface="Inter" pitchFamily="34" charset="0"/>
                <a:ea typeface="Inter" pitchFamily="34" charset="-122"/>
                <a:cs typeface="Inter" pitchFamily="34" charset="-120"/>
              </a:rPr>
              <a:t>The robots answer</a:t>
            </a:r>
            <a:endParaRPr lang="en-US" sz="1800" dirty="0"/>
          </a:p>
        </p:txBody>
      </p:sp>
      <p:sp>
        <p:nvSpPr>
          <p:cNvPr id="26" name="Step 5 text"/>
          <p:cNvSpPr txBox="1"/>
          <p:nvPr/>
        </p:nvSpPr>
        <p:spPr>
          <a:xfrm>
            <a:off x="9665208" y="3429000"/>
            <a:ext cx="1581912" cy="1325880"/>
          </a:xfrm>
          <a:prstGeom prst="rect">
            <a:avLst/>
          </a:prstGeom>
          <a:noFill/>
          <a:ln/>
        </p:spPr>
        <p:txBody>
          <a:bodyPr wrap="square" lIns="0" tIns="0" rIns="0" bIns="0" rtlCol="0" anchor="t"/>
          <a:lstStyle/>
          <a:p>
            <a:pPr indent="0" marL="0">
              <a:lnSpc>
                <a:spcPct val="120000"/>
              </a:lnSpc>
              <a:buNone/>
            </a:pPr>
            <a:r>
              <a:rPr lang="en-US" sz="1400" dirty="0">
                <a:solidFill>
                  <a:srgbClr val="646464"/>
                </a:solidFill>
                <a:latin typeface="Inter" pitchFamily="34" charset="0"/>
                <a:ea typeface="Inter" pitchFamily="34" charset="-122"/>
                <a:cs typeface="Inter" pitchFamily="34" charset="-120"/>
              </a:rPr>
              <a:t>A short robot sound, and words in a think bubble and the log.</a:t>
            </a:r>
            <a:endParaRPr lang="en-US" sz="1400" dirty="0"/>
          </a:p>
        </p:txBody>
      </p:sp>
      <p:sp>
        <p:nvSpPr>
          <p:cNvPr id="27" name="Footnote"/>
          <p:cNvSpPr txBox="1"/>
          <p:nvPr/>
        </p:nvSpPr>
        <p:spPr>
          <a:xfrm>
            <a:off x="758952" y="5257800"/>
            <a:ext cx="10058400" cy="548640"/>
          </a:xfrm>
          <a:prstGeom prst="rect">
            <a:avLst/>
          </a:prstGeom>
          <a:noFill/>
          <a:ln/>
        </p:spPr>
        <p:txBody>
          <a:bodyPr wrap="square" lIns="0" tIns="0" rIns="0" bIns="0" rtlCol="0" anchor="t"/>
          <a:lstStyle/>
          <a:p>
            <a:pPr indent="0" marL="0">
              <a:buNone/>
            </a:pPr>
            <a:r>
              <a:rPr lang="en-US" sz="1400" dirty="0">
                <a:solidFill>
                  <a:srgbClr val="646464"/>
                </a:solidFill>
                <a:latin typeface="Inter" pitchFamily="34" charset="0"/>
                <a:ea typeface="Inter" pitchFamily="34" charset="-122"/>
                <a:cs typeface="Inter" pitchFamily="34" charset="-120"/>
              </a:rPr>
              <a:t>Stop and Reset cancel pending actions. The model is never called per frame; local physics and navigation run on their own.</a:t>
            </a:r>
            <a:endParaRPr lang="en-US" sz="14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58952" y="548640"/>
            <a:ext cx="10607040" cy="1371600"/>
          </a:xfrm>
          <a:prstGeom prst="rect">
            <a:avLst/>
          </a:prstGeom>
          <a:noFill/>
          <a:ln/>
        </p:spPr>
        <p:txBody>
          <a:bodyPr wrap="square" lIns="0" tIns="0" rIns="0" bIns="0" rtlCol="0" anchor="t"/>
          <a:lstStyle/>
          <a:p>
            <a:pPr algn="l" indent="0" marL="0">
              <a:lnSpc>
                <a:spcPct val="105000"/>
              </a:lnSpc>
              <a:buNone/>
            </a:pPr>
            <a:r>
              <a:rPr lang="en-US" sz="3600" spc="-72" kern="0" dirty="0">
                <a:solidFill>
                  <a:srgbClr val="2C2C2C"/>
                </a:solidFill>
              </a:rPr>
              <a:t>Pip and Nova run the experiment together, </a:t>
            </a:r>
            <a:pPr algn="l" indent="0" marL="0">
              <a:lnSpc>
                <a:spcPct val="105000"/>
              </a:lnSpc>
              <a:buNone/>
            </a:pPr>
            <a:r>
              <a:rPr lang="en-US" sz="3600" spc="-72" kern="0" dirty="0">
                <a:solidFill>
                  <a:srgbClr val="B4B8B4"/>
                </a:solidFill>
              </a:rPr>
              <a:t>each on its own weight</a:t>
            </a:r>
            <a:endParaRPr lang="en-US" sz="3600" dirty="0"/>
          </a:p>
        </p:txBody>
      </p:sp>
      <p:sp>
        <p:nvSpPr>
          <p:cNvPr id="3" name="Sequence 1 number"/>
          <p:cNvSpPr txBox="1"/>
          <p:nvPr/>
        </p:nvSpPr>
        <p:spPr>
          <a:xfrm>
            <a:off x="758952" y="2148840"/>
            <a:ext cx="548640" cy="365760"/>
          </a:xfrm>
          <a:prstGeom prst="rect">
            <a:avLst/>
          </a:prstGeom>
          <a:noFill/>
          <a:ln/>
        </p:spPr>
        <p:txBody>
          <a:bodyPr wrap="square" lIns="0" tIns="0" rIns="0" bIns="0" rtlCol="0" anchor="t"/>
          <a:lstStyle/>
          <a:p>
            <a:pPr indent="0" marL="0">
              <a:buNone/>
            </a:pPr>
            <a:r>
              <a:rPr lang="en-US" sz="1400" dirty="0">
                <a:solidFill>
                  <a:srgbClr val="646464"/>
                </a:solidFill>
                <a:latin typeface="Inter" pitchFamily="34" charset="0"/>
                <a:ea typeface="Inter" pitchFamily="34" charset="-122"/>
                <a:cs typeface="Inter" pitchFamily="34" charset="-120"/>
              </a:rPr>
              <a:t>01</a:t>
            </a:r>
            <a:endParaRPr lang="en-US" sz="1400" dirty="0"/>
          </a:p>
        </p:txBody>
      </p:sp>
      <p:sp>
        <p:nvSpPr>
          <p:cNvPr id="4" name="Sequence 1 text"/>
          <p:cNvSpPr txBox="1"/>
          <p:nvPr/>
        </p:nvSpPr>
        <p:spPr>
          <a:xfrm>
            <a:off x="1325880" y="2148840"/>
            <a:ext cx="4206240" cy="365760"/>
          </a:xfrm>
          <a:prstGeom prst="rect">
            <a:avLst/>
          </a:prstGeom>
          <a:noFill/>
          <a:ln/>
        </p:spPr>
        <p:txBody>
          <a:bodyPr wrap="square" lIns="0" tIns="0" rIns="0" bIns="0" rtlCol="0" anchor="t"/>
          <a:lstStyle/>
          <a:p>
            <a:pPr indent="0" marL="0">
              <a:buNone/>
            </a:pPr>
            <a:r>
              <a:rPr lang="en-US" sz="1800" dirty="0">
                <a:solidFill>
                  <a:srgbClr val="2C2C2C"/>
                </a:solidFill>
                <a:latin typeface="Inter" pitchFamily="34" charset="0"/>
                <a:ea typeface="Inter" pitchFamily="34" charset="-122"/>
                <a:cs typeface="Inter" pitchFamily="34" charset="-120"/>
              </a:rPr>
              <a:t>Lock the plank</a:t>
            </a:r>
            <a:endParaRPr lang="en-US" sz="1800" dirty="0"/>
          </a:p>
        </p:txBody>
      </p:sp>
      <p:sp>
        <p:nvSpPr>
          <p:cNvPr id="5" name="Sequence 2 number"/>
          <p:cNvSpPr txBox="1"/>
          <p:nvPr/>
        </p:nvSpPr>
        <p:spPr>
          <a:xfrm>
            <a:off x="758952" y="2715768"/>
            <a:ext cx="548640" cy="365760"/>
          </a:xfrm>
          <a:prstGeom prst="rect">
            <a:avLst/>
          </a:prstGeom>
          <a:noFill/>
          <a:ln/>
        </p:spPr>
        <p:txBody>
          <a:bodyPr wrap="square" lIns="0" tIns="0" rIns="0" bIns="0" rtlCol="0" anchor="t"/>
          <a:lstStyle/>
          <a:p>
            <a:pPr indent="0" marL="0">
              <a:buNone/>
            </a:pPr>
            <a:r>
              <a:rPr lang="en-US" sz="1400" dirty="0">
                <a:solidFill>
                  <a:srgbClr val="646464"/>
                </a:solidFill>
                <a:latin typeface="Inter" pitchFamily="34" charset="0"/>
                <a:ea typeface="Inter" pitchFamily="34" charset="-122"/>
                <a:cs typeface="Inter" pitchFamily="34" charset="-120"/>
              </a:rPr>
              <a:t>02</a:t>
            </a:r>
            <a:endParaRPr lang="en-US" sz="1400" dirty="0"/>
          </a:p>
        </p:txBody>
      </p:sp>
      <p:sp>
        <p:nvSpPr>
          <p:cNvPr id="6" name="Sequence 2 text"/>
          <p:cNvSpPr txBox="1"/>
          <p:nvPr/>
        </p:nvSpPr>
        <p:spPr>
          <a:xfrm>
            <a:off x="1325880" y="2715768"/>
            <a:ext cx="4206240" cy="365760"/>
          </a:xfrm>
          <a:prstGeom prst="rect">
            <a:avLst/>
          </a:prstGeom>
          <a:noFill/>
          <a:ln/>
        </p:spPr>
        <p:txBody>
          <a:bodyPr wrap="square" lIns="0" tIns="0" rIns="0" bIns="0" rtlCol="0" anchor="t"/>
          <a:lstStyle/>
          <a:p>
            <a:pPr indent="0" marL="0">
              <a:buNone/>
            </a:pPr>
            <a:r>
              <a:rPr lang="en-US" sz="1800" dirty="0">
                <a:solidFill>
                  <a:srgbClr val="2C2C2C"/>
                </a:solidFill>
                <a:latin typeface="Inter" pitchFamily="34" charset="0"/>
                <a:ea typeface="Inter" pitchFamily="34" charset="-122"/>
                <a:cs typeface="Inter" pitchFamily="34" charset="-120"/>
              </a:rPr>
              <a:t>Push each weight to its target</a:t>
            </a:r>
            <a:endParaRPr lang="en-US" sz="1800" dirty="0"/>
          </a:p>
        </p:txBody>
      </p:sp>
      <p:sp>
        <p:nvSpPr>
          <p:cNvPr id="7" name="Sequence 3 number"/>
          <p:cNvSpPr txBox="1"/>
          <p:nvPr/>
        </p:nvSpPr>
        <p:spPr>
          <a:xfrm>
            <a:off x="758952" y="3282696"/>
            <a:ext cx="548640" cy="365760"/>
          </a:xfrm>
          <a:prstGeom prst="rect">
            <a:avLst/>
          </a:prstGeom>
          <a:noFill/>
          <a:ln/>
        </p:spPr>
        <p:txBody>
          <a:bodyPr wrap="square" lIns="0" tIns="0" rIns="0" bIns="0" rtlCol="0" anchor="t"/>
          <a:lstStyle/>
          <a:p>
            <a:pPr indent="0" marL="0">
              <a:buNone/>
            </a:pPr>
            <a:r>
              <a:rPr lang="en-US" sz="1400" dirty="0">
                <a:solidFill>
                  <a:srgbClr val="646464"/>
                </a:solidFill>
                <a:latin typeface="Inter" pitchFamily="34" charset="0"/>
                <a:ea typeface="Inter" pitchFamily="34" charset="-122"/>
                <a:cs typeface="Inter" pitchFamily="34" charset="-120"/>
              </a:rPr>
              <a:t>03</a:t>
            </a:r>
            <a:endParaRPr lang="en-US" sz="1400" dirty="0"/>
          </a:p>
        </p:txBody>
      </p:sp>
      <p:sp>
        <p:nvSpPr>
          <p:cNvPr id="8" name="Sequence 3 text"/>
          <p:cNvSpPr txBox="1"/>
          <p:nvPr/>
        </p:nvSpPr>
        <p:spPr>
          <a:xfrm>
            <a:off x="1325880" y="3282696"/>
            <a:ext cx="4206240" cy="365760"/>
          </a:xfrm>
          <a:prstGeom prst="rect">
            <a:avLst/>
          </a:prstGeom>
          <a:noFill/>
          <a:ln/>
        </p:spPr>
        <p:txBody>
          <a:bodyPr wrap="square" lIns="0" tIns="0" rIns="0" bIns="0" rtlCol="0" anchor="t"/>
          <a:lstStyle/>
          <a:p>
            <a:pPr indent="0" marL="0">
              <a:buNone/>
            </a:pPr>
            <a:r>
              <a:rPr lang="en-US" sz="1800" dirty="0">
                <a:solidFill>
                  <a:srgbClr val="2C2C2C"/>
                </a:solidFill>
                <a:latin typeface="Inter" pitchFamily="34" charset="0"/>
                <a:ea typeface="Inter" pitchFamily="34" charset="-122"/>
                <a:cs typeface="Inter" pitchFamily="34" charset="-120"/>
              </a:rPr>
              <a:t>Withdraw from the rails</a:t>
            </a:r>
            <a:endParaRPr lang="en-US" sz="1800" dirty="0"/>
          </a:p>
        </p:txBody>
      </p:sp>
      <p:sp>
        <p:nvSpPr>
          <p:cNvPr id="9" name="Sequence 4 number"/>
          <p:cNvSpPr txBox="1"/>
          <p:nvPr/>
        </p:nvSpPr>
        <p:spPr>
          <a:xfrm>
            <a:off x="758952" y="3849624"/>
            <a:ext cx="548640" cy="365760"/>
          </a:xfrm>
          <a:prstGeom prst="rect">
            <a:avLst/>
          </a:prstGeom>
          <a:noFill/>
          <a:ln/>
        </p:spPr>
        <p:txBody>
          <a:bodyPr wrap="square" lIns="0" tIns="0" rIns="0" bIns="0" rtlCol="0" anchor="t"/>
          <a:lstStyle/>
          <a:p>
            <a:pPr indent="0" marL="0">
              <a:buNone/>
            </a:pPr>
            <a:r>
              <a:rPr lang="en-US" sz="1400" dirty="0">
                <a:solidFill>
                  <a:srgbClr val="646464"/>
                </a:solidFill>
                <a:latin typeface="Inter" pitchFamily="34" charset="0"/>
                <a:ea typeface="Inter" pitchFamily="34" charset="-122"/>
                <a:cs typeface="Inter" pitchFamily="34" charset="-120"/>
              </a:rPr>
              <a:t>04</a:t>
            </a:r>
            <a:endParaRPr lang="en-US" sz="1400" dirty="0"/>
          </a:p>
        </p:txBody>
      </p:sp>
      <p:sp>
        <p:nvSpPr>
          <p:cNvPr id="10" name="Sequence 4 text"/>
          <p:cNvSpPr txBox="1"/>
          <p:nvPr/>
        </p:nvSpPr>
        <p:spPr>
          <a:xfrm>
            <a:off x="1325880" y="3849624"/>
            <a:ext cx="4206240" cy="365760"/>
          </a:xfrm>
          <a:prstGeom prst="rect">
            <a:avLst/>
          </a:prstGeom>
          <a:noFill/>
          <a:ln/>
        </p:spPr>
        <p:txBody>
          <a:bodyPr wrap="square" lIns="0" tIns="0" rIns="0" bIns="0" rtlCol="0" anchor="t"/>
          <a:lstStyle/>
          <a:p>
            <a:pPr indent="0" marL="0">
              <a:buNone/>
            </a:pPr>
            <a:r>
              <a:rPr lang="en-US" sz="1800" dirty="0">
                <a:solidFill>
                  <a:srgbClr val="2C2C2C"/>
                </a:solidFill>
                <a:latin typeface="Inter" pitchFamily="34" charset="0"/>
                <a:ea typeface="Inter" pitchFamily="34" charset="-122"/>
                <a:cs typeface="Inter" pitchFamily="34" charset="-120"/>
              </a:rPr>
              <a:t>Verify the beam is clear</a:t>
            </a:r>
            <a:endParaRPr lang="en-US" sz="1800" dirty="0"/>
          </a:p>
        </p:txBody>
      </p:sp>
      <p:sp>
        <p:nvSpPr>
          <p:cNvPr id="11" name="Sequence 5 number"/>
          <p:cNvSpPr txBox="1"/>
          <p:nvPr/>
        </p:nvSpPr>
        <p:spPr>
          <a:xfrm>
            <a:off x="758952" y="4416552"/>
            <a:ext cx="548640" cy="365760"/>
          </a:xfrm>
          <a:prstGeom prst="rect">
            <a:avLst/>
          </a:prstGeom>
          <a:noFill/>
          <a:ln/>
        </p:spPr>
        <p:txBody>
          <a:bodyPr wrap="square" lIns="0" tIns="0" rIns="0" bIns="0" rtlCol="0" anchor="t"/>
          <a:lstStyle/>
          <a:p>
            <a:pPr indent="0" marL="0">
              <a:buNone/>
            </a:pPr>
            <a:r>
              <a:rPr lang="en-US" sz="1400" dirty="0">
                <a:solidFill>
                  <a:srgbClr val="646464"/>
                </a:solidFill>
                <a:latin typeface="Inter" pitchFamily="34" charset="0"/>
                <a:ea typeface="Inter" pitchFamily="34" charset="-122"/>
                <a:cs typeface="Inter" pitchFamily="34" charset="-120"/>
              </a:rPr>
              <a:t>05</a:t>
            </a:r>
            <a:endParaRPr lang="en-US" sz="1400" dirty="0"/>
          </a:p>
        </p:txBody>
      </p:sp>
      <p:sp>
        <p:nvSpPr>
          <p:cNvPr id="12" name="Sequence 5 text"/>
          <p:cNvSpPr txBox="1"/>
          <p:nvPr/>
        </p:nvSpPr>
        <p:spPr>
          <a:xfrm>
            <a:off x="1325880" y="4416552"/>
            <a:ext cx="4206240" cy="365760"/>
          </a:xfrm>
          <a:prstGeom prst="rect">
            <a:avLst/>
          </a:prstGeom>
          <a:noFill/>
          <a:ln/>
        </p:spPr>
        <p:txBody>
          <a:bodyPr wrap="square" lIns="0" tIns="0" rIns="0" bIns="0" rtlCol="0" anchor="t"/>
          <a:lstStyle/>
          <a:p>
            <a:pPr indent="0" marL="0">
              <a:buNone/>
            </a:pPr>
            <a:r>
              <a:rPr lang="en-US" sz="1800" dirty="0">
                <a:solidFill>
                  <a:srgbClr val="2C2C2C"/>
                </a:solidFill>
                <a:latin typeface="Inter" pitchFamily="34" charset="0"/>
                <a:ea typeface="Inter" pitchFamily="34" charset="-122"/>
                <a:cs typeface="Inter" pitchFamily="34" charset="-120"/>
              </a:rPr>
              <a:t>Release the plank</a:t>
            </a:r>
            <a:endParaRPr lang="en-US" sz="1800" dirty="0"/>
          </a:p>
        </p:txBody>
      </p:sp>
      <p:sp>
        <p:nvSpPr>
          <p:cNvPr id="13" name="Sequence 6 number"/>
          <p:cNvSpPr txBox="1"/>
          <p:nvPr/>
        </p:nvSpPr>
        <p:spPr>
          <a:xfrm>
            <a:off x="758952" y="4983480"/>
            <a:ext cx="548640" cy="365760"/>
          </a:xfrm>
          <a:prstGeom prst="rect">
            <a:avLst/>
          </a:prstGeom>
          <a:noFill/>
          <a:ln/>
        </p:spPr>
        <p:txBody>
          <a:bodyPr wrap="square" lIns="0" tIns="0" rIns="0" bIns="0" rtlCol="0" anchor="t"/>
          <a:lstStyle/>
          <a:p>
            <a:pPr indent="0" marL="0">
              <a:buNone/>
            </a:pPr>
            <a:r>
              <a:rPr lang="en-US" sz="1400" dirty="0">
                <a:solidFill>
                  <a:srgbClr val="646464"/>
                </a:solidFill>
                <a:latin typeface="Inter" pitchFamily="34" charset="0"/>
                <a:ea typeface="Inter" pitchFamily="34" charset="-122"/>
                <a:cs typeface="Inter" pitchFamily="34" charset="-120"/>
              </a:rPr>
              <a:t>06</a:t>
            </a:r>
            <a:endParaRPr lang="en-US" sz="1400" dirty="0"/>
          </a:p>
        </p:txBody>
      </p:sp>
      <p:sp>
        <p:nvSpPr>
          <p:cNvPr id="14" name="Sequence 6 text"/>
          <p:cNvSpPr txBox="1"/>
          <p:nvPr/>
        </p:nvSpPr>
        <p:spPr>
          <a:xfrm>
            <a:off x="1325880" y="4983480"/>
            <a:ext cx="4206240" cy="365760"/>
          </a:xfrm>
          <a:prstGeom prst="rect">
            <a:avLst/>
          </a:prstGeom>
          <a:noFill/>
          <a:ln/>
        </p:spPr>
        <p:txBody>
          <a:bodyPr wrap="square" lIns="0" tIns="0" rIns="0" bIns="0" rtlCol="0" anchor="t"/>
          <a:lstStyle/>
          <a:p>
            <a:pPr indent="0" marL="0">
              <a:buNone/>
            </a:pPr>
            <a:r>
              <a:rPr lang="en-US" sz="1800" dirty="0">
                <a:solidFill>
                  <a:srgbClr val="2C2C2C"/>
                </a:solidFill>
                <a:latin typeface="Inter" pitchFamily="34" charset="0"/>
                <a:ea typeface="Inter" pitchFamily="34" charset="-122"/>
                <a:cs typeface="Inter" pitchFamily="34" charset="-120"/>
              </a:rPr>
              <a:t>Compare the measured tilt</a:t>
            </a:r>
            <a:endParaRPr lang="en-US" sz="1800" dirty="0"/>
          </a:p>
        </p:txBody>
      </p:sp>
      <p:sp>
        <p:nvSpPr>
          <p:cNvPr id="15" name="Pip card"/>
          <p:cNvSpPr/>
          <p:nvPr/>
        </p:nvSpPr>
        <p:spPr>
          <a:xfrm>
            <a:off x="6172200" y="2148840"/>
            <a:ext cx="2514600" cy="2651760"/>
          </a:xfrm>
          <a:prstGeom prst="roundRect">
            <a:avLst>
              <a:gd name="adj" fmla="val 4040"/>
            </a:avLst>
          </a:prstGeom>
          <a:solidFill>
            <a:srgbClr val="F9FAF7"/>
          </a:solidFill>
          <a:ln w="9525">
            <a:solidFill>
              <a:srgbClr val="DEE2DE"/>
            </a:solidFill>
            <a:prstDash val="solid"/>
          </a:ln>
        </p:spPr>
      </p:sp>
      <p:sp>
        <p:nvSpPr>
          <p:cNvPr id="16" name="Pip weight"/>
          <p:cNvSpPr txBox="1"/>
          <p:nvPr/>
        </p:nvSpPr>
        <p:spPr>
          <a:xfrm>
            <a:off x="6400800" y="2377440"/>
            <a:ext cx="210312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200 g weight</a:t>
            </a:r>
            <a:endParaRPr lang="en-US" sz="1200" dirty="0"/>
          </a:p>
        </p:txBody>
      </p:sp>
      <p:sp>
        <p:nvSpPr>
          <p:cNvPr id="17" name="Pip name"/>
          <p:cNvSpPr txBox="1"/>
          <p:nvPr/>
        </p:nvSpPr>
        <p:spPr>
          <a:xfrm>
            <a:off x="6400800" y="2697480"/>
            <a:ext cx="2103120" cy="548640"/>
          </a:xfrm>
          <a:prstGeom prst="rect">
            <a:avLst/>
          </a:prstGeom>
          <a:noFill/>
          <a:ln/>
        </p:spPr>
        <p:txBody>
          <a:bodyPr wrap="square" lIns="0" tIns="0" rIns="0" bIns="0" rtlCol="0" anchor="t"/>
          <a:lstStyle/>
          <a:p>
            <a:pPr indent="0" marL="0">
              <a:buNone/>
            </a:pPr>
            <a:r>
              <a:rPr lang="en-US" sz="2800" spc="-56" kern="0" dirty="0">
                <a:solidFill>
                  <a:srgbClr val="2C2C2C"/>
                </a:solidFill>
                <a:latin typeface="Inter" pitchFamily="34" charset="0"/>
                <a:ea typeface="Inter" pitchFamily="34" charset="-122"/>
                <a:cs typeface="Inter" pitchFamily="34" charset="-120"/>
              </a:rPr>
              <a:t>Pip</a:t>
            </a:r>
            <a:endParaRPr lang="en-US" sz="2800" dirty="0"/>
          </a:p>
        </p:txBody>
      </p:sp>
      <p:sp>
        <p:nvSpPr>
          <p:cNvPr id="18" name="Pip text"/>
          <p:cNvSpPr txBox="1"/>
          <p:nvPr/>
        </p:nvSpPr>
        <p:spPr>
          <a:xfrm>
            <a:off x="6400800" y="3337560"/>
            <a:ext cx="2103120" cy="1371600"/>
          </a:xfrm>
          <a:prstGeom prst="rect">
            <a:avLst/>
          </a:prstGeom>
          <a:noFill/>
          <a:ln/>
        </p:spPr>
        <p:txBody>
          <a:bodyPr wrap="square" lIns="0" tIns="0" rIns="0" bIns="0" rtlCol="0" anchor="t"/>
          <a:lstStyle/>
          <a:p>
            <a:pPr indent="0" marL="0">
              <a:lnSpc>
                <a:spcPct val="125000"/>
              </a:lnSpc>
              <a:buNone/>
            </a:pPr>
            <a:r>
              <a:rPr lang="en-US" sz="1400" dirty="0">
                <a:solidFill>
                  <a:srgbClr val="646464"/>
                </a:solidFill>
                <a:latin typeface="Inter" pitchFamily="34" charset="0"/>
                <a:ea typeface="Inter" pitchFamily="34" charset="-122"/>
                <a:cs typeface="Inter" pitchFamily="34" charset="-120"/>
              </a:rPr>
              <a:t>Pushes the heavier weight along the left rail, then reports where it actually stopped.</a:t>
            </a:r>
            <a:endParaRPr lang="en-US" sz="1400" dirty="0"/>
          </a:p>
        </p:txBody>
      </p:sp>
      <p:sp>
        <p:nvSpPr>
          <p:cNvPr id="19" name="Nova card"/>
          <p:cNvSpPr/>
          <p:nvPr/>
        </p:nvSpPr>
        <p:spPr>
          <a:xfrm>
            <a:off x="8869680" y="2148840"/>
            <a:ext cx="2514600" cy="2651760"/>
          </a:xfrm>
          <a:prstGeom prst="roundRect">
            <a:avLst>
              <a:gd name="adj" fmla="val 4040"/>
            </a:avLst>
          </a:prstGeom>
          <a:solidFill>
            <a:srgbClr val="F9FAF7"/>
          </a:solidFill>
          <a:ln w="9525">
            <a:solidFill>
              <a:srgbClr val="DEE2DE"/>
            </a:solidFill>
            <a:prstDash val="solid"/>
          </a:ln>
        </p:spPr>
      </p:sp>
      <p:sp>
        <p:nvSpPr>
          <p:cNvPr id="20" name="Nova weight"/>
          <p:cNvSpPr txBox="1"/>
          <p:nvPr/>
        </p:nvSpPr>
        <p:spPr>
          <a:xfrm>
            <a:off x="9098280" y="2377440"/>
            <a:ext cx="2103120" cy="27432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100 g weight</a:t>
            </a:r>
            <a:endParaRPr lang="en-US" sz="1200" dirty="0"/>
          </a:p>
        </p:txBody>
      </p:sp>
      <p:sp>
        <p:nvSpPr>
          <p:cNvPr id="21" name="Nova name"/>
          <p:cNvSpPr txBox="1"/>
          <p:nvPr/>
        </p:nvSpPr>
        <p:spPr>
          <a:xfrm>
            <a:off x="9098280" y="2697480"/>
            <a:ext cx="2103120" cy="548640"/>
          </a:xfrm>
          <a:prstGeom prst="rect">
            <a:avLst/>
          </a:prstGeom>
          <a:noFill/>
          <a:ln/>
        </p:spPr>
        <p:txBody>
          <a:bodyPr wrap="square" lIns="0" tIns="0" rIns="0" bIns="0" rtlCol="0" anchor="t"/>
          <a:lstStyle/>
          <a:p>
            <a:pPr indent="0" marL="0">
              <a:buNone/>
            </a:pPr>
            <a:r>
              <a:rPr lang="en-US" sz="2800" spc="-56" kern="0" dirty="0">
                <a:solidFill>
                  <a:srgbClr val="2C2C2C"/>
                </a:solidFill>
                <a:latin typeface="Inter" pitchFamily="34" charset="0"/>
                <a:ea typeface="Inter" pitchFamily="34" charset="-122"/>
                <a:cs typeface="Inter" pitchFamily="34" charset="-120"/>
              </a:rPr>
              <a:t>Nova</a:t>
            </a:r>
            <a:endParaRPr lang="en-US" sz="2800" dirty="0"/>
          </a:p>
        </p:txBody>
      </p:sp>
      <p:sp>
        <p:nvSpPr>
          <p:cNvPr id="22" name="Nova text"/>
          <p:cNvSpPr txBox="1"/>
          <p:nvPr/>
        </p:nvSpPr>
        <p:spPr>
          <a:xfrm>
            <a:off x="9098280" y="3337560"/>
            <a:ext cx="2103120" cy="1371600"/>
          </a:xfrm>
          <a:prstGeom prst="rect">
            <a:avLst/>
          </a:prstGeom>
          <a:noFill/>
          <a:ln/>
        </p:spPr>
        <p:txBody>
          <a:bodyPr wrap="square" lIns="0" tIns="0" rIns="0" bIns="0" rtlCol="0" anchor="t"/>
          <a:lstStyle/>
          <a:p>
            <a:pPr indent="0" marL="0">
              <a:lnSpc>
                <a:spcPct val="125000"/>
              </a:lnSpc>
              <a:buNone/>
            </a:pPr>
            <a:r>
              <a:rPr lang="en-US" sz="1400" dirty="0">
                <a:solidFill>
                  <a:srgbClr val="646464"/>
                </a:solidFill>
                <a:latin typeface="Inter" pitchFamily="34" charset="0"/>
                <a:ea typeface="Inter" pitchFamily="34" charset="-122"/>
                <a:cs typeface="Inter" pitchFamily="34" charset="-120"/>
              </a:rPr>
              <a:t>Pushes the lighter weight along the right rail, then reports its own measured position.</a:t>
            </a:r>
            <a:endParaRPr lang="en-US" sz="1400" dirty="0"/>
          </a:p>
        </p:txBody>
      </p:sp>
      <p:sp>
        <p:nvSpPr>
          <p:cNvPr id="23" name="Boundary"/>
          <p:cNvSpPr txBox="1"/>
          <p:nvPr/>
        </p:nvSpPr>
        <p:spPr>
          <a:xfrm>
            <a:off x="6172200" y="5029200"/>
            <a:ext cx="5212080" cy="822960"/>
          </a:xfrm>
          <a:prstGeom prst="rect">
            <a:avLst/>
          </a:prstGeom>
          <a:noFill/>
          <a:ln/>
        </p:spPr>
        <p:txBody>
          <a:bodyPr wrap="square" lIns="0" tIns="0" rIns="0" bIns="0" rtlCol="0" anchor="t"/>
          <a:lstStyle/>
          <a:p>
            <a:pPr indent="0" marL="0">
              <a:lnSpc>
                <a:spcPct val="125000"/>
              </a:lnSpc>
              <a:buNone/>
            </a:pPr>
            <a:r>
              <a:rPr lang="en-US" sz="1400" dirty="0">
                <a:solidFill>
                  <a:srgbClr val="444141"/>
                </a:solidFill>
                <a:latin typeface="Inter" pitchFamily="34" charset="0"/>
                <a:ea typeface="Inter" pitchFamily="34" charset="-122"/>
                <a:cs typeface="Inter" pitchFamily="34" charset="-120"/>
              </a:rPr>
              <a:t>Honest boundary: Nova is not a separate language model. The simulator announces the two-robot plan and handoffs, and the Pip and Nova window shows each robot's measured result.</a:t>
            </a:r>
            <a:endParaRPr lang="en-US" sz="14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58952" y="548640"/>
            <a:ext cx="10607040" cy="1371600"/>
          </a:xfrm>
          <a:prstGeom prst="rect">
            <a:avLst/>
          </a:prstGeom>
          <a:noFill/>
          <a:ln/>
        </p:spPr>
        <p:txBody>
          <a:bodyPr wrap="square" lIns="0" tIns="0" rIns="0" bIns="0" rtlCol="0" anchor="t"/>
          <a:lstStyle/>
          <a:p>
            <a:pPr algn="l" indent="0" marL="0">
              <a:lnSpc>
                <a:spcPct val="105000"/>
              </a:lnSpc>
              <a:buNone/>
            </a:pPr>
            <a:r>
              <a:rPr lang="en-US" sz="3600" spc="-72" kern="0" dirty="0">
                <a:solidFill>
                  <a:srgbClr val="2C2C2C"/>
                </a:solidFill>
              </a:rPr>
              <a:t>Progress survives a refresh, </a:t>
            </a:r>
            <a:pPr algn="l" indent="0" marL="0">
              <a:lnSpc>
                <a:spcPct val="105000"/>
              </a:lnSpc>
              <a:buNone/>
            </a:pPr>
            <a:r>
              <a:rPr lang="en-US" sz="3600" spc="-72" kern="0" dirty="0">
                <a:solidFill>
                  <a:srgbClr val="B4B8B4"/>
                </a:solidFill>
              </a:rPr>
              <a:t>because every win is a row</a:t>
            </a:r>
            <a:pPr algn="l" indent="0" marL="0">
              <a:lnSpc>
                <a:spcPct val="105000"/>
              </a:lnSpc>
              <a:buNone/>
            </a:pPr>
            <a:r>
              <a:rPr lang="en-US" sz="3600" spc="-72" kern="0" dirty="0">
                <a:solidFill>
                  <a:srgbClr val="2C2C2C"/>
                </a:solidFill>
              </a:rPr>
              <a:t> in a Tiger Data hypertable</a:t>
            </a:r>
            <a:endParaRPr lang="en-US" sz="3600" dirty="0"/>
          </a:p>
        </p:txBody>
      </p:sp>
      <p:sp>
        <p:nvSpPr>
          <p:cNvPr id="3" name="Stat 1 rule"/>
          <p:cNvSpPr/>
          <p:nvPr/>
        </p:nvSpPr>
        <p:spPr>
          <a:xfrm>
            <a:off x="758952" y="2331720"/>
            <a:ext cx="3291840" cy="0"/>
          </a:xfrm>
          <a:prstGeom prst="line">
            <a:avLst/>
          </a:prstGeom>
          <a:noFill/>
          <a:ln w="9525">
            <a:solidFill>
              <a:srgbClr val="DEE2DE"/>
            </a:solidFill>
            <a:prstDash val="solid"/>
          </a:ln>
        </p:spPr>
      </p:sp>
      <p:sp>
        <p:nvSpPr>
          <p:cNvPr id="4" name="Stat 1 figure"/>
          <p:cNvSpPr txBox="1"/>
          <p:nvPr/>
        </p:nvSpPr>
        <p:spPr>
          <a:xfrm>
            <a:off x="758952" y="2560320"/>
            <a:ext cx="3291840" cy="822960"/>
          </a:xfrm>
          <a:prstGeom prst="rect">
            <a:avLst/>
          </a:prstGeom>
          <a:noFill/>
          <a:ln/>
        </p:spPr>
        <p:txBody>
          <a:bodyPr wrap="square" lIns="0" tIns="0" rIns="0" bIns="0" rtlCol="0" anchor="t"/>
          <a:lstStyle/>
          <a:p>
            <a:pPr indent="0" marL="0">
              <a:buNone/>
            </a:pPr>
            <a:r>
              <a:rPr lang="en-US" sz="4400" spc="-88" kern="0" dirty="0">
                <a:solidFill>
                  <a:srgbClr val="2C2C2C"/>
                </a:solidFill>
                <a:latin typeface="Inter" pitchFamily="34" charset="0"/>
                <a:ea typeface="Inter" pitchFamily="34" charset="-122"/>
                <a:cs typeface="Inter" pitchFamily="34" charset="-120"/>
              </a:rPr>
              <a:t>attempts</a:t>
            </a:r>
            <a:endParaRPr lang="en-US" sz="4400" dirty="0"/>
          </a:p>
        </p:txBody>
      </p:sp>
      <p:sp>
        <p:nvSpPr>
          <p:cNvPr id="5" name="Stat 1 text"/>
          <p:cNvSpPr txBox="1"/>
          <p:nvPr/>
        </p:nvSpPr>
        <p:spPr>
          <a:xfrm>
            <a:off x="758952" y="3520440"/>
            <a:ext cx="3200400" cy="1280160"/>
          </a:xfrm>
          <a:prstGeom prst="rect">
            <a:avLst/>
          </a:prstGeom>
          <a:noFill/>
          <a:ln/>
        </p:spPr>
        <p:txBody>
          <a:bodyPr wrap="square" lIns="0" tIns="0" rIns="0" bIns="0" rtlCol="0" anchor="t"/>
          <a:lstStyle/>
          <a:p>
            <a:pPr indent="0" marL="0">
              <a:lnSpc>
                <a:spcPct val="125000"/>
              </a:lnSpc>
              <a:buNone/>
            </a:pPr>
            <a:r>
              <a:rPr lang="en-US" sz="1500" dirty="0">
                <a:solidFill>
                  <a:srgbClr val="646464"/>
                </a:solidFill>
                <a:latin typeface="Inter" pitchFamily="34" charset="0"/>
                <a:ea typeface="Inter" pitchFamily="34" charset="-122"/>
                <a:cs typeface="Inter" pitchFamily="34" charset="-120"/>
              </a:rPr>
              <a:t>A TimescaleDB hypertable on time, written by POST /api/progress and read by GET /api/progress/:learner.</a:t>
            </a:r>
            <a:endParaRPr lang="en-US" sz="1500" dirty="0"/>
          </a:p>
        </p:txBody>
      </p:sp>
      <p:sp>
        <p:nvSpPr>
          <p:cNvPr id="6" name="Stat 2 rule"/>
          <p:cNvSpPr/>
          <p:nvPr/>
        </p:nvSpPr>
        <p:spPr>
          <a:xfrm>
            <a:off x="4416552" y="2331720"/>
            <a:ext cx="3291840" cy="0"/>
          </a:xfrm>
          <a:prstGeom prst="line">
            <a:avLst/>
          </a:prstGeom>
          <a:noFill/>
          <a:ln w="9525">
            <a:solidFill>
              <a:srgbClr val="DEE2DE"/>
            </a:solidFill>
            <a:prstDash val="solid"/>
          </a:ln>
        </p:spPr>
      </p:sp>
      <p:sp>
        <p:nvSpPr>
          <p:cNvPr id="7" name="Stat 2 figure"/>
          <p:cNvSpPr txBox="1"/>
          <p:nvPr/>
        </p:nvSpPr>
        <p:spPr>
          <a:xfrm>
            <a:off x="4416552" y="2560320"/>
            <a:ext cx="3291840" cy="822960"/>
          </a:xfrm>
          <a:prstGeom prst="rect">
            <a:avLst/>
          </a:prstGeom>
          <a:noFill/>
          <a:ln/>
        </p:spPr>
        <p:txBody>
          <a:bodyPr wrap="square" lIns="0" tIns="0" rIns="0" bIns="0" rtlCol="0" anchor="t"/>
          <a:lstStyle/>
          <a:p>
            <a:pPr indent="0" marL="0">
              <a:buNone/>
            </a:pPr>
            <a:r>
              <a:rPr lang="en-US" sz="4400" spc="-88" kern="0" dirty="0">
                <a:solidFill>
                  <a:srgbClr val="2C2C2C"/>
                </a:solidFill>
                <a:latin typeface="Inter" pitchFamily="34" charset="0"/>
                <a:ea typeface="Inter" pitchFamily="34" charset="-122"/>
                <a:cs typeface="Inter" pitchFamily="34" charset="-120"/>
              </a:rPr>
              <a:t>0.2°</a:t>
            </a:r>
            <a:endParaRPr lang="en-US" sz="4400" dirty="0"/>
          </a:p>
        </p:txBody>
      </p:sp>
      <p:sp>
        <p:nvSpPr>
          <p:cNvPr id="8" name="Stat 2 text"/>
          <p:cNvSpPr txBox="1"/>
          <p:nvPr/>
        </p:nvSpPr>
        <p:spPr>
          <a:xfrm>
            <a:off x="4416552" y="3520440"/>
            <a:ext cx="3200400" cy="1280160"/>
          </a:xfrm>
          <a:prstGeom prst="rect">
            <a:avLst/>
          </a:prstGeom>
          <a:noFill/>
          <a:ln/>
        </p:spPr>
        <p:txBody>
          <a:bodyPr wrap="square" lIns="0" tIns="0" rIns="0" bIns="0" rtlCol="0" anchor="t"/>
          <a:lstStyle/>
          <a:p>
            <a:pPr indent="0" marL="0">
              <a:lnSpc>
                <a:spcPct val="125000"/>
              </a:lnSpc>
              <a:buNone/>
            </a:pPr>
            <a:r>
              <a:rPr lang="en-US" sz="1500" dirty="0">
                <a:solidFill>
                  <a:srgbClr val="646464"/>
                </a:solidFill>
                <a:latin typeface="Inter" pitchFamily="34" charset="0"/>
                <a:ea typeface="Inter" pitchFamily="34" charset="-122"/>
                <a:cs typeface="Inter" pitchFamily="34" charset="-120"/>
              </a:rPr>
              <a:t>The measured beam tilt stored with a real win, alongside both weight positions in centimetres.</a:t>
            </a:r>
            <a:endParaRPr lang="en-US" sz="1500" dirty="0"/>
          </a:p>
        </p:txBody>
      </p:sp>
      <p:sp>
        <p:nvSpPr>
          <p:cNvPr id="9" name="Stat 3 rule"/>
          <p:cNvSpPr/>
          <p:nvPr/>
        </p:nvSpPr>
        <p:spPr>
          <a:xfrm>
            <a:off x="8074152" y="2331720"/>
            <a:ext cx="3291840" cy="0"/>
          </a:xfrm>
          <a:prstGeom prst="line">
            <a:avLst/>
          </a:prstGeom>
          <a:noFill/>
          <a:ln w="9525">
            <a:solidFill>
              <a:srgbClr val="DEE2DE"/>
            </a:solidFill>
            <a:prstDash val="solid"/>
          </a:ln>
        </p:spPr>
      </p:sp>
      <p:sp>
        <p:nvSpPr>
          <p:cNvPr id="10" name="Stat 3 figure"/>
          <p:cNvSpPr txBox="1"/>
          <p:nvPr/>
        </p:nvSpPr>
        <p:spPr>
          <a:xfrm>
            <a:off x="8074152" y="2560320"/>
            <a:ext cx="3291840" cy="822960"/>
          </a:xfrm>
          <a:prstGeom prst="rect">
            <a:avLst/>
          </a:prstGeom>
          <a:noFill/>
          <a:ln/>
        </p:spPr>
        <p:txBody>
          <a:bodyPr wrap="square" lIns="0" tIns="0" rIns="0" bIns="0" rtlCol="0" anchor="t"/>
          <a:lstStyle/>
          <a:p>
            <a:pPr indent="0" marL="0">
              <a:buNone/>
            </a:pPr>
            <a:r>
              <a:rPr lang="en-US" sz="4400" spc="-88" kern="0" dirty="0">
                <a:solidFill>
                  <a:srgbClr val="2C2C2C"/>
                </a:solidFill>
                <a:latin typeface="Inter" pitchFamily="34" charset="0"/>
                <a:ea typeface="Inter" pitchFamily="34" charset="-122"/>
                <a:cs typeface="Inter" pitchFamily="34" charset="-120"/>
              </a:rPr>
              <a:t>No account</a:t>
            </a:r>
            <a:endParaRPr lang="en-US" sz="4400" dirty="0"/>
          </a:p>
        </p:txBody>
      </p:sp>
      <p:sp>
        <p:nvSpPr>
          <p:cNvPr id="11" name="Stat 3 text"/>
          <p:cNvSpPr txBox="1"/>
          <p:nvPr/>
        </p:nvSpPr>
        <p:spPr>
          <a:xfrm>
            <a:off x="8074152" y="3520440"/>
            <a:ext cx="3200400" cy="1280160"/>
          </a:xfrm>
          <a:prstGeom prst="rect">
            <a:avLst/>
          </a:prstGeom>
          <a:noFill/>
          <a:ln/>
        </p:spPr>
        <p:txBody>
          <a:bodyPr wrap="square" lIns="0" tIns="0" rIns="0" bIns="0" rtlCol="0" anchor="t"/>
          <a:lstStyle/>
          <a:p>
            <a:pPr indent="0" marL="0">
              <a:lnSpc>
                <a:spcPct val="125000"/>
              </a:lnSpc>
              <a:buNone/>
            </a:pPr>
            <a:r>
              <a:rPr lang="en-US" sz="1500" dirty="0">
                <a:solidFill>
                  <a:srgbClr val="646464"/>
                </a:solidFill>
                <a:latin typeface="Inter" pitchFamily="34" charset="0"/>
                <a:ea typeface="Inter" pitchFamily="34" charset="-122"/>
                <a:cs typeface="Inter" pitchFamily="34" charset="-120"/>
              </a:rPr>
              <a:t>Each browser keeps an anonymous learner ID. No name is collected.</a:t>
            </a:r>
            <a:endParaRPr lang="en-US" sz="1500" dirty="0"/>
          </a:p>
        </p:txBody>
      </p:sp>
      <p:sp>
        <p:nvSpPr>
          <p:cNvPr id="12" name="Verification"/>
          <p:cNvSpPr txBox="1"/>
          <p:nvPr/>
        </p:nvSpPr>
        <p:spPr>
          <a:xfrm>
            <a:off x="758952" y="5074920"/>
            <a:ext cx="10241280" cy="731520"/>
          </a:xfrm>
          <a:prstGeom prst="rect">
            <a:avLst/>
          </a:prstGeom>
          <a:noFill/>
          <a:ln/>
        </p:spPr>
        <p:txBody>
          <a:bodyPr wrap="square" lIns="0" tIns="0" rIns="0" bIns="0" rtlCol="0" anchor="t"/>
          <a:lstStyle/>
          <a:p>
            <a:pPr indent="0" marL="0">
              <a:lnSpc>
                <a:spcPct val="125000"/>
              </a:lnSpc>
              <a:buNone/>
            </a:pPr>
            <a:r>
              <a:rPr lang="en-US" sz="1400" dirty="0">
                <a:solidFill>
                  <a:srgbClr val="444141"/>
                </a:solidFill>
                <a:latin typeface="Inter" pitchFamily="34" charset="0"/>
                <a:ea typeface="Inter" pitchFamily="34" charset="-122"/>
                <a:cs typeface="Inter" pitchFamily="34" charset="-120"/>
              </a:rPr>
              <a:t>Verified against Tiger Cloud on 25 October 2026: a win in the console, a reload with the local copy removed, and the board restored from the database alone. Without the database the API returns 503 and the browser copy is used. Only wins are logged today.</a:t>
            </a:r>
            <a:endParaRPr lang="en-US" sz="14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58952" y="548640"/>
            <a:ext cx="10607040" cy="1371600"/>
          </a:xfrm>
          <a:prstGeom prst="rect">
            <a:avLst/>
          </a:prstGeom>
          <a:noFill/>
          <a:ln/>
        </p:spPr>
        <p:txBody>
          <a:bodyPr wrap="square" lIns="0" tIns="0" rIns="0" bIns="0" rtlCol="0" anchor="t"/>
          <a:lstStyle/>
          <a:p>
            <a:pPr algn="l" indent="0" marL="0">
              <a:lnSpc>
                <a:spcPct val="105000"/>
              </a:lnSpc>
              <a:buNone/>
            </a:pPr>
            <a:r>
              <a:rPr lang="en-US" sz="3600" spc="-72" kern="0" dirty="0">
                <a:solidFill>
                  <a:srgbClr val="2C2C2C"/>
                </a:solidFill>
              </a:rPr>
              <a:t>What is real today, </a:t>
            </a:r>
            <a:pPr algn="l" indent="0" marL="0">
              <a:lnSpc>
                <a:spcPct val="105000"/>
              </a:lnSpc>
              <a:buNone/>
            </a:pPr>
            <a:r>
              <a:rPr lang="en-US" sz="3600" spc="-72" kern="0" dirty="0">
                <a:solidFill>
                  <a:srgbClr val="B4B8B4"/>
                </a:solidFill>
              </a:rPr>
              <a:t>and what we have not built yet</a:t>
            </a:r>
            <a:endParaRPr lang="en-US" sz="3600" dirty="0"/>
          </a:p>
        </p:txBody>
      </p:sp>
      <p:sp>
        <p:nvSpPr>
          <p:cNvPr id="3" name="Real today heading"/>
          <p:cNvSpPr txBox="1"/>
          <p:nvPr/>
        </p:nvSpPr>
        <p:spPr>
          <a:xfrm>
            <a:off x="758952" y="2103120"/>
            <a:ext cx="4937760" cy="411480"/>
          </a:xfrm>
          <a:prstGeom prst="rect">
            <a:avLst/>
          </a:prstGeom>
          <a:noFill/>
          <a:ln/>
        </p:spPr>
        <p:txBody>
          <a:bodyPr wrap="square" lIns="0" tIns="0" rIns="0" bIns="0" rtlCol="0" anchor="t"/>
          <a:lstStyle/>
          <a:p>
            <a:pPr indent="0" marL="0">
              <a:buNone/>
            </a:pPr>
            <a:r>
              <a:rPr lang="en-US" sz="2000" spc="-40" kern="0" dirty="0">
                <a:solidFill>
                  <a:srgbClr val="2C2C2C"/>
                </a:solidFill>
                <a:latin typeface="Inter" pitchFamily="34" charset="0"/>
                <a:ea typeface="Inter" pitchFamily="34" charset="-122"/>
                <a:cs typeface="Inter" pitchFamily="34" charset="-120"/>
              </a:rPr>
              <a:t>Real today</a:t>
            </a:r>
            <a:endParaRPr lang="en-US" sz="2000" dirty="0"/>
          </a:p>
        </p:txBody>
      </p:sp>
      <p:sp>
        <p:nvSpPr>
          <p:cNvPr id="4" name="Real today rule"/>
          <p:cNvSpPr/>
          <p:nvPr/>
        </p:nvSpPr>
        <p:spPr>
          <a:xfrm>
            <a:off x="758952" y="2606040"/>
            <a:ext cx="4937760" cy="0"/>
          </a:xfrm>
          <a:prstGeom prst="line">
            <a:avLst/>
          </a:prstGeom>
          <a:noFill/>
          <a:ln w="9525">
            <a:solidFill>
              <a:srgbClr val="DEE2DE"/>
            </a:solidFill>
            <a:prstDash val="solid"/>
          </a:ln>
        </p:spPr>
      </p:sp>
      <p:sp>
        <p:nvSpPr>
          <p:cNvPr id="5" name="Real today list"/>
          <p:cNvSpPr txBox="1"/>
          <p:nvPr/>
        </p:nvSpPr>
        <p:spPr>
          <a:xfrm>
            <a:off x="758952" y="2788920"/>
            <a:ext cx="493776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C2C2C"/>
                </a:solidFill>
                <a:latin typeface="Inter" pitchFamily="34" charset="0"/>
                <a:ea typeface="Inter" pitchFamily="34" charset="-122"/>
                <a:cs typeface="Inter" pitchFamily="34" charset="-120"/>
              </a:rPr>
              <a:t>Microduck physics and policies at 50 Hz in the browser</a:t>
            </a:r>
            <a:endParaRPr lang="en-US" sz="1600" dirty="0"/>
          </a:p>
          <a:p>
            <a:pPr marL="203200" indent="-203200">
              <a:spcAft>
                <a:spcPts val="800"/>
              </a:spcAft>
              <a:buSzPct val="100000"/>
              <a:buChar char="•"/>
            </a:pPr>
            <a:r>
              <a:rPr lang="en-US" sz="1600" dirty="0">
                <a:solidFill>
                  <a:srgbClr val="2C2C2C"/>
                </a:solidFill>
                <a:latin typeface="Inter" pitchFamily="34" charset="0"/>
                <a:ea typeface="Inter" pitchFamily="34" charset="-122"/>
                <a:cs typeface="Inter" pitchFamily="34" charset="-120"/>
              </a:rPr>
              <a:t>Three objectives, each measured by the simulator</a:t>
            </a:r>
            <a:endParaRPr lang="en-US" sz="1600" dirty="0"/>
          </a:p>
          <a:p>
            <a:pPr marL="203200" indent="-203200">
              <a:spcAft>
                <a:spcPts val="800"/>
              </a:spcAft>
              <a:buSzPct val="100000"/>
              <a:buChar char="•"/>
            </a:pPr>
            <a:r>
              <a:rPr lang="en-US" sz="1600" dirty="0">
                <a:solidFill>
                  <a:srgbClr val="2C2C2C"/>
                </a:solidFill>
                <a:latin typeface="Inter" pitchFamily="34" charset="0"/>
                <a:ea typeface="Inter" pitchFamily="34" charset="-122"/>
                <a:cs typeface="Inter" pitchFamily="34" charset="-120"/>
              </a:rPr>
              <a:t>Voice and Claude conversation, with server keys</a:t>
            </a:r>
            <a:endParaRPr lang="en-US" sz="1600" dirty="0"/>
          </a:p>
          <a:p>
            <a:pPr marL="203200" indent="-203200">
              <a:spcAft>
                <a:spcPts val="800"/>
              </a:spcAft>
              <a:buSzPct val="100000"/>
              <a:buChar char="•"/>
            </a:pPr>
            <a:r>
              <a:rPr lang="en-US" sz="1600" dirty="0">
                <a:solidFill>
                  <a:srgbClr val="2C2C2C"/>
                </a:solidFill>
                <a:latin typeface="Inter" pitchFamily="34" charset="0"/>
                <a:ea typeface="Inter" pitchFamily="34" charset="-122"/>
                <a:cs typeface="Inter" pitchFamily="34" charset="-120"/>
              </a:rPr>
              <a:t>Progress stored in Tiger Data</a:t>
            </a:r>
            <a:endParaRPr lang="en-US" sz="1600" dirty="0"/>
          </a:p>
          <a:p>
            <a:pPr marL="203200" indent="-203200">
              <a:spcAft>
                <a:spcPts val="800"/>
              </a:spcAft>
              <a:buSzPct val="100000"/>
              <a:buChar char="•"/>
            </a:pPr>
            <a:r>
              <a:rPr lang="en-US" sz="1600" dirty="0">
                <a:solidFill>
                  <a:srgbClr val="2C2C2C"/>
                </a:solidFill>
                <a:latin typeface="Inter" pitchFamily="34" charset="0"/>
                <a:ea typeface="Inter" pitchFamily="34" charset="-122"/>
                <a:cs typeface="Inter" pitchFamily="34" charset="-120"/>
              </a:rPr>
              <a:t>Stop and Reset that cancel pending actions</a:t>
            </a:r>
            <a:endParaRPr lang="en-US" sz="1600" dirty="0"/>
          </a:p>
        </p:txBody>
      </p:sp>
      <p:sp>
        <p:nvSpPr>
          <p:cNvPr id="6" name="Next heading"/>
          <p:cNvSpPr txBox="1"/>
          <p:nvPr/>
        </p:nvSpPr>
        <p:spPr>
          <a:xfrm>
            <a:off x="6245352" y="2103120"/>
            <a:ext cx="4937760" cy="411480"/>
          </a:xfrm>
          <a:prstGeom prst="rect">
            <a:avLst/>
          </a:prstGeom>
          <a:noFill/>
          <a:ln/>
        </p:spPr>
        <p:txBody>
          <a:bodyPr wrap="square" lIns="0" tIns="0" rIns="0" bIns="0" rtlCol="0" anchor="t"/>
          <a:lstStyle/>
          <a:p>
            <a:pPr indent="0" marL="0">
              <a:buNone/>
            </a:pPr>
            <a:r>
              <a:rPr lang="en-US" sz="2000" spc="-40" kern="0" dirty="0">
                <a:solidFill>
                  <a:srgbClr val="2C2C2C"/>
                </a:solidFill>
                <a:latin typeface="Inter" pitchFamily="34" charset="0"/>
                <a:ea typeface="Inter" pitchFamily="34" charset="-122"/>
                <a:cs typeface="Inter" pitchFamily="34" charset="-120"/>
              </a:rPr>
              <a:t>Next</a:t>
            </a:r>
            <a:endParaRPr lang="en-US" sz="2000" dirty="0"/>
          </a:p>
        </p:txBody>
      </p:sp>
      <p:sp>
        <p:nvSpPr>
          <p:cNvPr id="7" name="Next rule"/>
          <p:cNvSpPr/>
          <p:nvPr/>
        </p:nvSpPr>
        <p:spPr>
          <a:xfrm>
            <a:off x="6245352" y="2606040"/>
            <a:ext cx="4937760" cy="0"/>
          </a:xfrm>
          <a:prstGeom prst="line">
            <a:avLst/>
          </a:prstGeom>
          <a:noFill/>
          <a:ln w="9525">
            <a:solidFill>
              <a:srgbClr val="DEE2DE"/>
            </a:solidFill>
            <a:prstDash val="solid"/>
          </a:ln>
        </p:spPr>
      </p:sp>
      <p:sp>
        <p:nvSpPr>
          <p:cNvPr id="8" name="Next list"/>
          <p:cNvSpPr txBox="1"/>
          <p:nvPr/>
        </p:nvSpPr>
        <p:spPr>
          <a:xfrm>
            <a:off x="6245352" y="2788920"/>
            <a:ext cx="4937760" cy="23774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646464"/>
                </a:solidFill>
                <a:latin typeface="Inter" pitchFamily="34" charset="0"/>
                <a:ea typeface="Inter" pitchFamily="34" charset="-122"/>
                <a:cs typeface="Inter" pitchFamily="34" charset="-120"/>
              </a:rPr>
              <a:t>Robot avoidance in a shared lane (lanes are scheduled)</a:t>
            </a:r>
            <a:endParaRPr lang="en-US" sz="1600" dirty="0"/>
          </a:p>
          <a:p>
            <a:pPr marL="203200" indent="-203200">
              <a:spcAft>
                <a:spcPts val="800"/>
              </a:spcAft>
              <a:buSzPct val="100000"/>
              <a:buChar char="•"/>
            </a:pPr>
            <a:r>
              <a:rPr lang="en-US" sz="1600" dirty="0">
                <a:solidFill>
                  <a:srgbClr val="646464"/>
                </a:solidFill>
                <a:latin typeface="Inter" pitchFamily="34" charset="0"/>
                <a:ea typeface="Inter" pitchFamily="34" charset="-122"/>
                <a:cs typeface="Inter" pitchFamily="34" charset="-120"/>
              </a:rPr>
              <a:t>Grasping and a jump skill</a:t>
            </a:r>
            <a:endParaRPr lang="en-US" sz="1600" dirty="0"/>
          </a:p>
          <a:p>
            <a:pPr marL="203200" indent="-203200">
              <a:spcAft>
                <a:spcPts val="800"/>
              </a:spcAft>
              <a:buSzPct val="100000"/>
              <a:buChar char="•"/>
            </a:pPr>
            <a:r>
              <a:rPr lang="en-US" sz="1600" dirty="0">
                <a:solidFill>
                  <a:srgbClr val="646464"/>
                </a:solidFill>
                <a:latin typeface="Inter" pitchFamily="34" charset="0"/>
                <a:ea typeface="Inter" pitchFamily="34" charset="-122"/>
                <a:cs typeface="Inter" pitchFamily="34" charset="-120"/>
              </a:rPr>
              <a:t>Final robot art (the paintings are concept art)</a:t>
            </a:r>
            <a:endParaRPr lang="en-US" sz="1600" dirty="0"/>
          </a:p>
          <a:p>
            <a:pPr marL="203200" indent="-203200">
              <a:spcAft>
                <a:spcPts val="800"/>
              </a:spcAft>
              <a:buSzPct val="100000"/>
              <a:buChar char="•"/>
            </a:pPr>
            <a:r>
              <a:rPr lang="en-US" sz="1600" dirty="0">
                <a:solidFill>
                  <a:srgbClr val="646464"/>
                </a:solidFill>
                <a:latin typeface="Inter" pitchFamily="34" charset="0"/>
                <a:ea typeface="Inter" pitchFamily="34" charset="-122"/>
                <a:cs typeface="Inter" pitchFamily="34" charset="-120"/>
              </a:rPr>
              <a:t>Accounts, hosting and an under-18 review</a:t>
            </a:r>
            <a:endParaRPr lang="en-US" sz="1600" dirty="0"/>
          </a:p>
          <a:p>
            <a:pPr marL="203200" indent="-203200">
              <a:spcAft>
                <a:spcPts val="800"/>
              </a:spcAft>
              <a:buSzPct val="100000"/>
              <a:buChar char="•"/>
            </a:pPr>
            <a:r>
              <a:rPr lang="en-US" sz="1600" dirty="0">
                <a:solidFill>
                  <a:srgbClr val="646464"/>
                </a:solidFill>
                <a:latin typeface="Inter" pitchFamily="34" charset="0"/>
                <a:ea typeface="Inter" pitchFamily="34" charset="-122"/>
                <a:cs typeface="Inter" pitchFamily="34" charset="-120"/>
              </a:rPr>
              <a:t>Hardware</a:t>
            </a:r>
            <a:endParaRPr lang="en-US" sz="1600" dirty="0"/>
          </a:p>
        </p:txBody>
      </p:sp>
      <p:sp>
        <p:nvSpPr>
          <p:cNvPr id="9" name="Stack"/>
          <p:cNvSpPr txBox="1"/>
          <p:nvPr/>
        </p:nvSpPr>
        <p:spPr>
          <a:xfrm>
            <a:off x="758952" y="5577840"/>
            <a:ext cx="10241280" cy="320040"/>
          </a:xfrm>
          <a:prstGeom prst="rect">
            <a:avLst/>
          </a:prstGeom>
          <a:noFill/>
          <a:ln/>
        </p:spPr>
        <p:txBody>
          <a:bodyPr wrap="square" lIns="0" tIns="0" rIns="0" bIns="0" rtlCol="0" anchor="t"/>
          <a:lstStyle/>
          <a:p>
            <a:pPr indent="0" marL="0">
              <a:buNone/>
            </a:pPr>
            <a:r>
              <a:rPr lang="en-US" sz="1200" dirty="0">
                <a:solidFill>
                  <a:srgbClr val="646464"/>
                </a:solidFill>
                <a:latin typeface="Inter" pitchFamily="34" charset="0"/>
                <a:ea typeface="Inter" pitchFamily="34" charset="-122"/>
                <a:cs typeface="Inter" pitchFamily="34" charset="-120"/>
              </a:rPr>
              <a:t>TypeScript  ·  React 19  ·  React Three Fiber 9  ·  Three.js  ·  Zustand  ·  Radix  ·  Motion  ·  Fastify  ·  Zod  ·  MuJoCo WASM  ·  ONNX Runtime  ·  Tiger Data</a:t>
            </a:r>
            <a:endParaRPr lang="en-US" sz="12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646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Kestrel mark" descr="kestrel">    </p:cNvPr>
          <p:cNvPicPr>
            <a:picLocks noChangeAspect="1"/>
          </p:cNvPicPr>
          <p:nvPr/>
        </p:nvPicPr>
        <p:blipFill>
          <a:blip r:embed="rId2"/>
          <a:stretch>
            <a:fillRect/>
          </a:stretch>
        </p:blipFill>
        <p:spPr>
          <a:xfrm>
            <a:off x="6588760" y="889000"/>
            <a:ext cx="1750256" cy="481889"/>
          </a:xfrm>
          <a:prstGeom prst="rect">
            <a:avLst/>
          </a:prstGeom>
        </p:spPr>
      </p:pic>
      <p:sp>
        <p:nvSpPr>
          <p:cNvPr id="3" name="Title"/>
          <p:cNvSpPr txBox="1"/>
          <p:nvPr/>
        </p:nvSpPr>
        <p:spPr>
          <a:xfrm>
            <a:off x="6680200" y="1574800"/>
            <a:ext cx="4597400" cy="548640"/>
          </a:xfrm>
          <a:prstGeom prst="rect">
            <a:avLst/>
          </a:prstGeom>
          <a:noFill/>
          <a:ln/>
        </p:spPr>
        <p:txBody>
          <a:bodyPr wrap="square" lIns="0" tIns="0" rIns="0" bIns="0" rtlCol="0" anchor="t"/>
          <a:lstStyle/>
          <a:p>
            <a:pPr indent="0" marL="0">
              <a:buNone/>
            </a:pPr>
            <a:r>
              <a:rPr lang="en-US" sz="3000" spc="-60" kern="0" dirty="0">
                <a:solidFill>
                  <a:srgbClr val="FFFFFF"/>
                </a:solidFill>
                <a:latin typeface="Inter" pitchFamily="34" charset="0"/>
                <a:ea typeface="Inter" pitchFamily="34" charset="-122"/>
                <a:cs typeface="Inter" pitchFamily="34" charset="-120"/>
              </a:rPr>
              <a:t>Real robots. Real physics.</a:t>
            </a:r>
            <a:endParaRPr lang="en-US" sz="3000" dirty="0"/>
          </a:p>
        </p:txBody>
      </p:sp>
      <p:sp>
        <p:nvSpPr>
          <p:cNvPr id="4" name="Subtitle"/>
          <p:cNvSpPr txBox="1"/>
          <p:nvPr/>
        </p:nvSpPr>
        <p:spPr>
          <a:xfrm>
            <a:off x="6680200" y="2169160"/>
            <a:ext cx="4597400" cy="640080"/>
          </a:xfrm>
          <a:prstGeom prst="rect">
            <a:avLst/>
          </a:prstGeom>
          <a:noFill/>
          <a:ln/>
        </p:spPr>
        <p:txBody>
          <a:bodyPr wrap="square" lIns="0" tIns="0" rIns="0" bIns="0" rtlCol="0" anchor="t"/>
          <a:lstStyle/>
          <a:p>
            <a:pPr indent="0" marL="0">
              <a:buNone/>
            </a:pPr>
            <a:r>
              <a:rPr lang="en-US" sz="1600" dirty="0">
                <a:solidFill>
                  <a:srgbClr val="FFFFFF"/>
                </a:solidFill>
                <a:latin typeface="Inter" pitchFamily="34" charset="0"/>
                <a:ea typeface="Inter" pitchFamily="34" charset="-122"/>
                <a:cs typeface="Inter" pitchFamily="34" charset="-120"/>
              </a:rPr>
              <a:t>Ask us for the console and try the beam yourself.</a:t>
            </a:r>
            <a:endParaRPr lang="en-US" sz="1600" dirty="0"/>
          </a:p>
        </p:txBody>
      </p:sp>
      <p:sp>
        <p:nvSpPr>
          <p:cNvPr id="5" name="Button"/>
          <p:cNvSpPr/>
          <p:nvPr/>
        </p:nvSpPr>
        <p:spPr>
          <a:xfrm>
            <a:off x="6680200" y="2900680"/>
            <a:ext cx="2743200" cy="457200"/>
          </a:xfrm>
          <a:prstGeom prst="roundRect">
            <a:avLst>
              <a:gd name="adj" fmla="val 11111"/>
            </a:avLst>
          </a:prstGeom>
          <a:solidFill>
            <a:srgbClr val="1F1F29"/>
          </a:solidFill>
          <a:ln w="9525">
            <a:solidFill>
              <a:srgbClr val="282834"/>
            </a:solidFill>
            <a:prstDash val="solid"/>
          </a:ln>
        </p:spPr>
      </p:sp>
      <p:sp>
        <p:nvSpPr>
          <p:cNvPr id="6" name="Button label"/>
          <p:cNvSpPr txBox="1"/>
          <p:nvPr/>
        </p:nvSpPr>
        <p:spPr>
          <a:xfrm>
            <a:off x="6863080" y="2900680"/>
            <a:ext cx="2331720" cy="457200"/>
          </a:xfrm>
          <a:prstGeom prst="rect">
            <a:avLst/>
          </a:prstGeom>
          <a:noFill/>
          <a:ln/>
        </p:spPr>
        <p:txBody>
          <a:bodyPr wrap="square" lIns="0" tIns="0" rIns="0" bIns="0" rtlCol="0" anchor="ctr"/>
          <a:lstStyle/>
          <a:p>
            <a:pPr indent="0" marL="0">
              <a:buNone/>
            </a:pPr>
            <a:r>
              <a:rPr lang="en-US" sz="1500" dirty="0">
                <a:solidFill>
                  <a:srgbClr val="FFFFFF"/>
                </a:solidFill>
                <a:latin typeface="Inter" pitchFamily="34" charset="0"/>
                <a:ea typeface="Inter" pitchFamily="34" charset="-122"/>
                <a:cs typeface="Inter" pitchFamily="34" charset="-120"/>
              </a:rPr>
              <a:t>Open the playground</a:t>
            </a:r>
            <a:endParaRPr lang="en-US" sz="1500" dirty="0"/>
          </a:p>
        </p:txBody>
      </p:sp>
      <p:pic>
        <p:nvPicPr>
          <p:cNvPr id="7" name="Button arrow" descr="preencoded.png">    </p:cNvPr>
          <p:cNvPicPr>
            <a:picLocks noChangeAspect="1"/>
          </p:cNvPicPr>
          <p:nvPr/>
        </p:nvPicPr>
        <p:blipFill>
          <a:blip r:embed="rId3"/>
          <a:stretch>
            <a:fillRect/>
          </a:stretch>
        </p:blipFill>
        <p:spPr>
          <a:xfrm>
            <a:off x="9167368" y="3056128"/>
            <a:ext cx="109728" cy="146304"/>
          </a:xfrm>
          <a:prstGeom prst="rect">
            <a:avLst/>
          </a:prstGeom>
        </p:spPr>
      </p:pic>
      <p:sp>
        <p:nvSpPr>
          <p:cNvPr id="8" name="Caption"/>
          <p:cNvSpPr txBox="1"/>
          <p:nvPr/>
        </p:nvSpPr>
        <p:spPr>
          <a:xfrm>
            <a:off x="6680200" y="3586480"/>
            <a:ext cx="4597400" cy="274320"/>
          </a:xfrm>
          <a:prstGeom prst="rect">
            <a:avLst/>
          </a:prstGeom>
          <a:noFill/>
          <a:ln/>
        </p:spPr>
        <p:txBody>
          <a:bodyPr wrap="square" lIns="0" tIns="0" rIns="0" bIns="0" rtlCol="0" anchor="t"/>
          <a:lstStyle/>
          <a:p>
            <a:pPr indent="0" marL="0">
              <a:buNone/>
            </a:pPr>
            <a:r>
              <a:rPr lang="en-US" sz="1100" dirty="0">
                <a:solidFill>
                  <a:srgbClr val="FFFFFF"/>
                </a:solidFill>
                <a:latin typeface="Inter" pitchFamily="34" charset="0"/>
                <a:ea typeface="Inter" pitchFamily="34" charset="-122"/>
                <a:cs typeface="Inter" pitchFamily="34" charset="-120"/>
              </a:rPr>
              <a:t>HackPSU 2026  ·  Concept art</a:t>
            </a:r>
            <a:endParaRPr lang="en-US" sz="1100" dirty="0"/>
          </a:p>
        </p:txBody>
      </p:sp>
    </p:spTree>
  </p:cSld>
  <p:clrMapOvr>
    <a:masterClrMapping/>
  </p:clrMapOvr>
</p:sld>
</file>

<file path=ppt/theme/theme1.xml><?xml version="1.0" encoding="utf-8"?>
<a:theme xmlns:a="http://schemas.openxmlformats.org/drawingml/2006/main" name="Kestrel on GIC">
  <a:themeElements>
    <a:clrScheme name="Kestrel on GIC">
      <a:dk1>
        <a:srgbClr val="2C2C2C"/>
      </a:dk1>
      <a:lt1>
        <a:srgbClr val="FEFFFC"/>
      </a:lt1>
      <a:dk2>
        <a:srgbClr val="1F1F29"/>
      </a:dk2>
      <a:lt2>
        <a:srgbClr val="F3F5F2"/>
      </a:lt2>
      <a:accent1>
        <a:srgbClr val="646464"/>
      </a:accent1>
      <a:accent2>
        <a:srgbClr val="B4B8B4"/>
      </a:accent2>
      <a:accent3>
        <a:srgbClr val="C4B3F0"/>
      </a:accent3>
      <a:accent4>
        <a:srgbClr val="DEE2DE"/>
      </a:accent4>
      <a:accent5>
        <a:srgbClr val="334444"/>
      </a:accent5>
      <a:accent6>
        <a:srgbClr val="A5AFAF"/>
      </a:accent6>
      <a:hlink>
        <a:srgbClr val="444141"/>
      </a:hlink>
      <a:folHlink>
        <a:srgbClr val="646464"/>
      </a:folHlink>
    </a:clrScheme>
    <a:fontScheme name="Kestrel on GIC">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Kestrel</dc:title>
  <dc:subject>PptxGenJS Presentation</dc:subject>
  <dc:creator>Kestrel team, HackPSU 2026</dc:creator>
  <cp:lastModifiedBy>Kestrel team, HackPSU 2026</cp:lastModifiedBy>
  <cp:revision>1</cp:revision>
  <dcterms:created xsi:type="dcterms:W3CDTF">2026-10-25T14:58:52Z</dcterms:created>
  <dcterms:modified xsi:type="dcterms:W3CDTF">2026-10-25T14:58:52Z</dcterms:modified>
</cp:coreProperties>
</file>